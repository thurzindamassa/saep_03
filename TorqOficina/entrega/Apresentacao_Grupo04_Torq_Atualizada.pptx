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7ebc832bd04e24" /><Relationship Type="http://schemas.openxmlformats.org/officeDocument/2006/relationships/extended-properties" Target="/docProps/app.xml" Id="R2f7fd3c3b8554ce1" /><Relationship Type="http://schemas.openxmlformats.org/officeDocument/2006/relationships/officeDocument" Target="/ppt/presentation.xml" Id="Reed4c9669f2e42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525d54f1504812"/>
  </p:sldMasterIdLst>
  <p:notesMasterIdLst>
    <p:notesMasterId xmlns:r="http://schemas.openxmlformats.org/officeDocument/2006/relationships" r:id="R94a70052ff224449"/>
  </p:notesMasterIdLst>
  <p:sldIdLst>
    <p:sldId xmlns:r="http://schemas.openxmlformats.org/officeDocument/2006/relationships" id="256" r:id="R1ce3c7b7b4764424"/>
    <p:sldId xmlns:r="http://schemas.openxmlformats.org/officeDocument/2006/relationships" id="257" r:id="Rd82c2365bc854e4f"/>
    <p:sldId xmlns:r="http://schemas.openxmlformats.org/officeDocument/2006/relationships" id="258" r:id="R4840f0449c4a4e4f"/>
    <p:sldId xmlns:r="http://schemas.openxmlformats.org/officeDocument/2006/relationships" id="259" r:id="R7a94e51bb05a43a8"/>
    <p:sldId xmlns:r="http://schemas.openxmlformats.org/officeDocument/2006/relationships" id="260" r:id="Ra1e3537a6675497c"/>
    <p:sldId xmlns:r="http://schemas.openxmlformats.org/officeDocument/2006/relationships" id="261" r:id="R0953b5d571104db9"/>
    <p:sldId xmlns:r="http://schemas.openxmlformats.org/officeDocument/2006/relationships" id="262" r:id="Rf20ba7056c0e40e9"/>
    <p:sldId xmlns:r="http://schemas.openxmlformats.org/officeDocument/2006/relationships" id="263" r:id="R13f174a16ade4a95"/>
    <p:sldId xmlns:r="http://schemas.openxmlformats.org/officeDocument/2006/relationships" id="264" r:id="Rbaaa7b2ea4a047e9"/>
    <p:sldId xmlns:r="http://schemas.openxmlformats.org/officeDocument/2006/relationships" id="265" r:id="R56ea66689b4c42be"/>
    <p:sldId xmlns:r="http://schemas.openxmlformats.org/officeDocument/2006/relationships" id="266" r:id="R4f4c4f039be7464e"/>
    <p:sldId xmlns:r="http://schemas.openxmlformats.org/officeDocument/2006/relationships" id="267" r:id="R6f4f032a55514117"/>
    <p:sldId xmlns:r="http://schemas.openxmlformats.org/officeDocument/2006/relationships" id="268" r:id="R4486a4a909e44b5d"/>
    <p:sldId xmlns:r="http://schemas.openxmlformats.org/officeDocument/2006/relationships" id="269" r:id="R9f8cc91c04e447dc"/>
    <p:sldId xmlns:r="http://schemas.openxmlformats.org/officeDocument/2006/relationships" id="270" r:id="Rd034038723d94a5e"/>
    <p:sldId xmlns:r="http://schemas.openxmlformats.org/officeDocument/2006/relationships" id="271" r:id="R27baef88d0954248"/>
    <p:sldId xmlns:r="http://schemas.openxmlformats.org/officeDocument/2006/relationships" id="272" r:id="Re65f442b548847a1"/>
    <p:sldId xmlns:r="http://schemas.openxmlformats.org/officeDocument/2006/relationships" id="273" r:id="R9efc5418ab6f43fd"/>
    <p:sldId xmlns:r="http://schemas.openxmlformats.org/officeDocument/2006/relationships" id="274" r:id="R0e8386fd719b4e6d"/>
    <p:sldId xmlns:r="http://schemas.openxmlformats.org/officeDocument/2006/relationships" id="275" r:id="R40de5e5895354b68"/>
    <p:sldId xmlns:r="http://schemas.openxmlformats.org/officeDocument/2006/relationships" id="276" r:id="Re47f6646f7af4580"/>
    <p:sldId xmlns:r="http://schemas.openxmlformats.org/officeDocument/2006/relationships" id="277" r:id="R263bd0a61cb74a5d"/>
    <p:sldId xmlns:r="http://schemas.openxmlformats.org/officeDocument/2006/relationships" id="278" r:id="R073189a72eca4d12"/>
    <p:sldId xmlns:r="http://schemas.openxmlformats.org/officeDocument/2006/relationships" id="279" r:id="Rdb8e9bbbb0ab4dc8"/>
    <p:sldId xmlns:r="http://schemas.openxmlformats.org/officeDocument/2006/relationships" id="280" r:id="Rd98d4ec256064d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c78f1bed8e472b" /><Relationship Type="http://schemas.openxmlformats.org/officeDocument/2006/relationships/slideMaster" Target="/ppt/slideMasters/slideMaster1.xml" Id="R58525d54f1504812" /><Relationship Type="http://schemas.openxmlformats.org/officeDocument/2006/relationships/notesMaster" Target="/ppt/notesMasters/notesMaster1.xml" Id="R94a70052ff224449" /><Relationship Type="http://schemas.openxmlformats.org/officeDocument/2006/relationships/presProps" Target="/ppt/presProps.xml" Id="R3c1503a901264a1f" /><Relationship Type="http://schemas.openxmlformats.org/officeDocument/2006/relationships/tableStyles" Target="/ppt/tableStyles.xml" Id="R8cdb5f5dd26f4ed5" /><Relationship Type="http://schemas.openxmlformats.org/officeDocument/2006/relationships/slide" Target="/ppt/slides/slide1.xml" Id="R1ce3c7b7b4764424" /><Relationship Type="http://schemas.openxmlformats.org/officeDocument/2006/relationships/slide" Target="/ppt/slides/slide2.xml" Id="Rd82c2365bc854e4f" /><Relationship Type="http://schemas.openxmlformats.org/officeDocument/2006/relationships/slide" Target="/ppt/slides/slide3.xml" Id="R4840f0449c4a4e4f" /><Relationship Type="http://schemas.openxmlformats.org/officeDocument/2006/relationships/slide" Target="/ppt/slides/slide4.xml" Id="R7a94e51bb05a43a8" /><Relationship Type="http://schemas.openxmlformats.org/officeDocument/2006/relationships/slide" Target="/ppt/slides/slide5.xml" Id="Ra1e3537a6675497c" /><Relationship Type="http://schemas.openxmlformats.org/officeDocument/2006/relationships/slide" Target="/ppt/slides/slide6.xml" Id="R0953b5d571104db9" /><Relationship Type="http://schemas.openxmlformats.org/officeDocument/2006/relationships/slide" Target="/ppt/slides/slide7.xml" Id="Rf20ba7056c0e40e9" /><Relationship Type="http://schemas.openxmlformats.org/officeDocument/2006/relationships/slide" Target="/ppt/slides/slide8.xml" Id="R13f174a16ade4a95" /><Relationship Type="http://schemas.openxmlformats.org/officeDocument/2006/relationships/slide" Target="/ppt/slides/slide9.xml" Id="Rbaaa7b2ea4a047e9" /><Relationship Type="http://schemas.openxmlformats.org/officeDocument/2006/relationships/slide" Target="/ppt/slides/slide10.xml" Id="R56ea66689b4c42be" /><Relationship Type="http://schemas.openxmlformats.org/officeDocument/2006/relationships/slide" Target="/ppt/slides/slide11.xml" Id="R4f4c4f039be7464e" /><Relationship Type="http://schemas.openxmlformats.org/officeDocument/2006/relationships/slide" Target="/ppt/slides/slide12.xml" Id="R6f4f032a55514117" /><Relationship Type="http://schemas.openxmlformats.org/officeDocument/2006/relationships/slide" Target="/ppt/slides/slide13.xml" Id="R4486a4a909e44b5d" /><Relationship Type="http://schemas.openxmlformats.org/officeDocument/2006/relationships/slide" Target="/ppt/slides/slide14.xml" Id="R9f8cc91c04e447dc" /><Relationship Type="http://schemas.openxmlformats.org/officeDocument/2006/relationships/slide" Target="/ppt/slides/slide15.xml" Id="Rd034038723d94a5e" /><Relationship Type="http://schemas.openxmlformats.org/officeDocument/2006/relationships/slide" Target="/ppt/slides/slide16.xml" Id="R27baef88d0954248" /><Relationship Type="http://schemas.openxmlformats.org/officeDocument/2006/relationships/slide" Target="/ppt/slides/slide17.xml" Id="Re65f442b548847a1" /><Relationship Type="http://schemas.openxmlformats.org/officeDocument/2006/relationships/slide" Target="/ppt/slides/slide18.xml" Id="R9efc5418ab6f43fd" /><Relationship Type="http://schemas.openxmlformats.org/officeDocument/2006/relationships/slide" Target="/ppt/slides/slide19.xml" Id="R0e8386fd719b4e6d" /><Relationship Type="http://schemas.openxmlformats.org/officeDocument/2006/relationships/slide" Target="/ppt/slides/slide20.xml" Id="R40de5e5895354b68" /><Relationship Type="http://schemas.openxmlformats.org/officeDocument/2006/relationships/slide" Target="/ppt/slides/slide21.xml" Id="Re47f6646f7af4580" /><Relationship Type="http://schemas.openxmlformats.org/officeDocument/2006/relationships/slide" Target="/ppt/slides/slide22.xml" Id="R263bd0a61cb74a5d" /><Relationship Type="http://schemas.openxmlformats.org/officeDocument/2006/relationships/slide" Target="/ppt/slides/slide23.xml" Id="R073189a72eca4d12" /><Relationship Type="http://schemas.openxmlformats.org/officeDocument/2006/relationships/slide" Target="/ppt/slides/slide24.xml" Id="Rdb8e9bbbb0ab4dc8" /><Relationship Type="http://schemas.openxmlformats.org/officeDocument/2006/relationships/slide" Target="/ppt/slides/slide25.xml" Id="Rd98d4ec256064d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ec37e9a63641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c72ca2c61343c1" /><Relationship Type="http://schemas.openxmlformats.org/officeDocument/2006/relationships/notesMaster" Target="/ppt/notesMasters/notesMaster1.xml" Id="R340d98ffcc6e47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5d788225c44e71" /><Relationship Type="http://schemas.openxmlformats.org/officeDocument/2006/relationships/notesMaster" Target="/ppt/notesMasters/notesMaster1.xml" Id="Rc7a8cb789e604c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3e03b084944850" /><Relationship Type="http://schemas.openxmlformats.org/officeDocument/2006/relationships/notesMaster" Target="/ppt/notesMasters/notesMaster1.xml" Id="R6a97b242aa6b49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ddc39f8332465e" /><Relationship Type="http://schemas.openxmlformats.org/officeDocument/2006/relationships/notesMaster" Target="/ppt/notesMasters/notesMaster1.xml" Id="Re0ac9037945740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aca28f87ef4b1d" /><Relationship Type="http://schemas.openxmlformats.org/officeDocument/2006/relationships/notesMaster" Target="/ppt/notesMasters/notesMaster1.xml" Id="R79b0c64f703f44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62d7c546b44697" /><Relationship Type="http://schemas.openxmlformats.org/officeDocument/2006/relationships/notesMaster" Target="/ppt/notesMasters/notesMaster1.xml" Id="Rae6666f2a63c47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287efb0a524161" /><Relationship Type="http://schemas.openxmlformats.org/officeDocument/2006/relationships/notesMaster" Target="/ppt/notesMasters/notesMaster1.xml" Id="R51eef768b8e047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cc02e3457642a6" /><Relationship Type="http://schemas.openxmlformats.org/officeDocument/2006/relationships/notesMaster" Target="/ppt/notesMasters/notesMaster1.xml" Id="Rf4a089cf64a046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e4f388b1464eb9" /><Relationship Type="http://schemas.openxmlformats.org/officeDocument/2006/relationships/notesMaster" Target="/ppt/notesMasters/notesMaster1.xml" Id="R68023b27752244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5feec7cdd842ed" /><Relationship Type="http://schemas.openxmlformats.org/officeDocument/2006/relationships/notesMaster" Target="/ppt/notesMasters/notesMaster1.xml" Id="R87eb66c8139946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663b181b68447c" /><Relationship Type="http://schemas.openxmlformats.org/officeDocument/2006/relationships/notesMaster" Target="/ppt/notesMasters/notesMaster1.xml" Id="R8bf7043405c949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acf4142ec449e7" /><Relationship Type="http://schemas.openxmlformats.org/officeDocument/2006/relationships/notesMaster" Target="/ppt/notesMasters/notesMaster1.xml" Id="Rfe848ed495264f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b2624cea864c59" /><Relationship Type="http://schemas.openxmlformats.org/officeDocument/2006/relationships/notesMaster" Target="/ppt/notesMasters/notesMaster1.xml" Id="R8c01e10b08e34a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15fa6cc2d242b2" /><Relationship Type="http://schemas.openxmlformats.org/officeDocument/2006/relationships/notesMaster" Target="/ppt/notesMasters/notesMaster1.xml" Id="Rafdab0ee98ca422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344a7b9baa41b8" /><Relationship Type="http://schemas.openxmlformats.org/officeDocument/2006/relationships/notesMaster" Target="/ppt/notesMasters/notesMaster1.xml" Id="R9babd83c7984495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50adf3abc5840e0" /><Relationship Type="http://schemas.openxmlformats.org/officeDocument/2006/relationships/notesMaster" Target="/ppt/notesMasters/notesMaster1.xml" Id="R8293180b6a4c43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fb5ddb5915440e3" /><Relationship Type="http://schemas.openxmlformats.org/officeDocument/2006/relationships/notesMaster" Target="/ppt/notesMasters/notesMaster1.xml" Id="R31e65755576b49e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7410641034a4bc3" /><Relationship Type="http://schemas.openxmlformats.org/officeDocument/2006/relationships/notesMaster" Target="/ppt/notesMasters/notesMaster1.xml" Id="Rbf69f02d84c8420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7c6ecd8975c44ae" /><Relationship Type="http://schemas.openxmlformats.org/officeDocument/2006/relationships/notesMaster" Target="/ppt/notesMasters/notesMaster1.xml" Id="Rffbd408677d342f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8c7aa982e7e4f50" /><Relationship Type="http://schemas.openxmlformats.org/officeDocument/2006/relationships/notesMaster" Target="/ppt/notesMasters/notesMaster1.xml" Id="Rccf9b0a4c46649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72b8775268b4f1c" /><Relationship Type="http://schemas.openxmlformats.org/officeDocument/2006/relationships/notesMaster" Target="/ppt/notesMasters/notesMaster1.xml" Id="Raa7ba6576a8b400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82bf81376514082" /><Relationship Type="http://schemas.openxmlformats.org/officeDocument/2006/relationships/notesMaster" Target="/ppt/notesMasters/notesMaster1.xml" Id="Rdbcd71254037465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a0d90f6df114559" /><Relationship Type="http://schemas.openxmlformats.org/officeDocument/2006/relationships/notesMaster" Target="/ppt/notesMasters/notesMaster1.xml" Id="Rcbcbd24f976d4ec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67a8c122789449f" /><Relationship Type="http://schemas.openxmlformats.org/officeDocument/2006/relationships/notesMaster" Target="/ppt/notesMasters/notesMaster1.xml" Id="R224fdfb71b014fc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c734ad0452a4cc0" /><Relationship Type="http://schemas.openxmlformats.org/officeDocument/2006/relationships/notesMaster" Target="/ppt/notesMasters/notesMaster1.xml" Id="Rf3d8fae25ed940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o nome do sistema, a oficina fictícia e o tema. A marca usa verde escuro #182C28 e laranja #E76636. Fundo claro #F5F6F2 e tipografia Arial compõem o padrão visual das telas.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Escopo: PDF fornecido pelo usuário, Grupo 04 - Oficina Mecânica, páginas 1 a 4. Evidência técnica: código, banco e resultados em TorqOficina. Capturas reais do sistema com dados fictícios. Material preparado com assistência de IA. O grupo deve considerar a regra da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navegação superior, busca global Ctrl+K, filtros, ordenação, paginação, exportação CSV, prévias de subtotal e saldo, confirmações e edição de dados de ordens abertas. Validação em MariaDB do XAMPP; MySQL 8 dedicado ainda requer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Fernando Ian Harmel apresenta o grupo e identifica o cliente fictício. O enunciado é destinado às turmas 303 e 304. A turma específica do grupo não foi informada.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Escopo: PDF fornecido pelo usuário, Grupo 04 - Oficina Mecânica, páginas 1 a 4. Evidência técnica: código, banco e resultados em TorqOficina. Capturas reais do sistema com dados fictícios. Material preparado com assistência de IA. O grupo deve considerar a regra da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navegação superior, busca global Ctrl+K, filtros, ordenação, paginação, exportação CSV, prévias de subtotal e saldo, confirmações e edição de dados de ordens abertas. Validação em MariaDB do XAMPP; MySQL 8 dedicado ainda requer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Contexto fornecido pelo enunciado. A oficina registra dados manualmente e precisa acompanhar os reparos e materiais. Não foram realizadas pesquisas com uma empresa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Escopo: PDF fornecido pelo usuário, Grupo 04 - Oficina Mecânica, páginas 1 a 4. Evidência técnica: código, banco e resultados em TorqOficina. Capturas reais do sistema com dados fictícios. Material preparado com assistência de IA. O grupo deve considerar a regra da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navegação superior, busca global Ctrl+K, filtros, ordenação, paginação, exportação CSV, prévias de subtotal e saldo, confirmações e edição de dados de ordens abertas. Validação em MariaDB do XAMPP; MySQL 8 dedicado ainda requer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Arthur Ayyub Rodrigues apresenta o escopo. A documentação detalha 20 requisitos funcionais e 8 não funcionais, com critérios de aceitação.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Escopo: PDF fornecido pelo usuário, Grupo 04 - Oficina Mecânica, páginas 1 a 4. Evidência técnica: código, banco e resultados em TorqOficina. Capturas reais do sistema com dados fictícios. Material preparado com assistência de IA. O grupo deve considerar a regra da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navegação superior, busca global Ctrl+K, filtros, ordenação, paginação, exportação CSV, prévias de subtotal e saldo, confirmações e edição de dados de ordens abertas. Validação em MariaDB do XAMPP; MySQL 8 dedicado ainda requer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o servidor confere todas as regras. O preço do catálogo é copiado para o item. A alteração do preço de referência não modifica valores de ordens anteriores.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Escopo: PDF fornecido pelo usuário, Grupo 04 - Oficina Mecânica, páginas 1 a 4. Evidência técnica: código, banco e resultados em TorqOficina. Capturas reais do sistema com dados fictícios. Material preparado com assistência de IA. O grupo deve considerar a regra da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navegação superior, busca global Ctrl+K, filtros, ordenação, paginação, exportação CSV, prévias de subtotal e saldo, confirmações e edição de dados de ordens abertas. Validação em MariaDB do XAMPP; MySQL 8 dedicado ainda requer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Uma ordem concluída ainda conta como atendimento ativo até a entrega. Mecânicos registram execução e conclusão. Apenas administrador e atendente entregam ou cancelam. A interface oferece apenas as transições disponíveis.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Escopo: PDF fornecido pelo usuário, Grupo 04 - Oficina Mecânica, páginas 1 a 4. Evidência técnica: código, banco e resultados em TorqOficina. Capturas reais do sistema com dados fictícios. Material preparado com assistência de IA. O grupo deve considerar a regra da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navegação superior, busca global Ctrl+K, filtros, ordenação, paginação, exportação CSV, prévias de subtotal e saldo, confirmações e edição de dados de ordens abertas. Validação em MariaDB do XAMPP; MySQL 8 dedicado ainda requer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sistema usa Java no servidor e MySQL como destino de implantação. O HttpServer pertence à biblioteca padrão. JDBC usa Connector/J 8.4.0. Não há framework web. O JDK 23 compilou o código para Java 17. Python e Playwright foram ferramentas auxiliares de validação.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Escopo: PDF fornecido pelo usuário, Grupo 04 - Oficina Mecânica, páginas 1 a 4. Evidência técnica: código, banco e resultados em TorqOficina. Capturas reais do sistema com dados fictícios. Material preparado com assistência de IA. O grupo deve considerar a regra da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navegação superior, busca global Ctrl+K, filtros, ordenação, paginação, exportação CSV, prévias de subtotal e saldo, confirmações e edição de dados de ordens abertas. Validação em MariaDB do XAMPP; MySQL 8 dedicado ainda requer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as chaves id. Cada cliente possui vários veículos e cada veículo possui várias ordens históricas. A ordem obtém o cliente pelo veículo. Responsável é uma FK para usuários.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Escopo: PDF fornecido pelo usuário, Grupo 04 - Oficina Mecânica, páginas 1 a 4. Evidência técnica: código, banco e resultados em TorqOficina. Capturas reais do sistema com dados fictícios. Material preparado com assistência de IA. O grupo deve considerar a regra da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navegação superior, busca global Ctrl+K, filtros, ordenação, paginação, exportação CSV, prévias de subtotal e saldo, confirmações e edição de dados de ordens abertas. Validação em MariaDB do XAMPP; MySQL 8 dedicado ainda requer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tabelas de itens resolvem relações N:N de ordem com serviço e peça, guardando quantidade e preço unitário. Movimentação manual tem ordem_id opcional. Histórico da ordem e auditoria identificam o usuário. O esquema completo e o DER Mermaid acompanham a entrega.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Escopo: PDF fornecido pelo usuário, Grupo 04 - Oficina Mecânica, páginas 1 a 4. Evidência técnica: código, banco e resultados em TorqOficina. Capturas reais do sistema com dados fictícios. Material preparado com assistência de IA. O grupo deve considerar a regra da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navegação superior, busca global Ctrl+K, filtros, ordenação, paginação, exportação CSV, prévias de subtotal e saldo, confirmações e edição de dados de ordens abertas. Validação em MariaDB do XAMPP; MySQL 8 dedicado ainda requer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Victor Nestor Prim demonstra acesso. Senhas usam PBKDF2, salt aleatório e 210.000 iterações. Sessão HttpOnly com SameSite e token CSRF nas gravações. Logout invalida a sessão.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Escopo: PDF fornecido pelo usuário, Grupo 04 - Oficina Mecânica, páginas 1 a 4. Evidência técnica: código, banco e resultados em TorqOficina. Capturas reais do sistema com dados fictícios. Material preparado com assistência de IA. O grupo deve considerar a regra da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navegação superior, busca global Ctrl+K, filtros, ordenação, paginação, exportação CSV, prévias de subtotal e saldo, confirmações e edição de dados de ordens abertas. Validação em MariaDB do XAMPP; MySQL 8 dedicado ainda requer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os três veículos fictícios em situações diferentes e as duas peças inicialmente abaixo do mínimo. O status dos veículos deriva da ordem 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Escopo: PDF fornecido pelo usuário, Grupo 04 - Oficina Mecânica, páginas 1 a 4. Evidência técnica: código, banco e resultados em TorqOficina. Capturas reais do sistema com dados fictícios. Material preparado com assistência de IA. O grupo deve considerar a regra da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navegação superior, busca global Ctrl+K, filtros, ordenação, paginação, exportação CSV, prévias de subtotal e saldo, confirmações e edição de dados de ordens abertas. Validação em MariaDB do XAMPP; MySQL 8 dedicado ainda requer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Consulta disponível aos três perfis. Documento é único e e-mail é opcional. Os documentos DEMO da carga inicial são identificadores fictícios.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Escopo: PDF fornecido pelo usuário, Grupo 04 - Oficina Mecânica, páginas 1 a 4. Evidência técnica: código, banco e resultados em TorqOficina. Capturas reais do sistema com dados fictícios. Material preparado com assistência de IA. O grupo deve considerar a regra da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navegação superior, busca global Ctrl+K, filtros, ordenação, paginação, exportação CSV, prévias de subtotal e saldo, confirmações e edição de dados de ordens abertas. Validação em MariaDB do XAMPP; MySQL 8 dedicado ainda requer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Placa é única e deve ter formato brasileiro válido. Cada veículo possui um cliente existente. Um veículo com histórico não pode trocar de cliente nesta versão.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Escopo: PDF fornecido pelo usuário, Grupo 04 - Oficina Mecânica, páginas 1 a 4. Evidência técnica: código, banco e resultados em TorqOficina. Capturas reais do sistema com dados fictícios. Material preparado com assistência de IA. O grupo deve considerar a regra da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navegação superior, busca global Ctrl+K, filtros, ordenação, paginação, exportação CSV, prévias de subtotal e saldo, confirmações e edição de dados de ordens abertas. Validação em MariaDB do XAMPP; MySQL 8 dedicado ainda requer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serviço cadastrado do serviço efetivamente lançado em uma ordem. A quantidade e o preço unitário aparecem em ordem_servicos.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Escopo: PDF fornecido pelo usuário, Grupo 04 - Oficina Mecânica, páginas 1 a 4. Evidência técnica: código, banco e resultados em TorqOficina. Capturas reais do sistema com dados fictícios. Material preparado com assistência de IA. O grupo deve considerar a regra da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navegação superior, busca global Ctrl+K, filtros, ordenação, paginação, exportação CSV, prévias de subtotal e saldo, confirmações e edição de dados de ordens abertas. Validação em MariaDB do XAMPP; MySQL 8 dedicado ainda requer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Administrador e atendente criam ordens. Os filtros incluem todas as situações. Ordens entregues permanecem consultáveis. Valor registrado não é um controle de pagamento.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Escopo: PDF fornecido pelo usuário, Grupo 04 - Oficina Mecânica, páginas 1 a 4. Evidência técnica: código, banco e resultados em TorqOficina. Capturas reais do sistema com dados fictícios. Material preparado com assistência de IA. O grupo deve considerar a regra da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navegação superior, busca global Ctrl+K, filtros, ordenação, paginação, exportação CSV, prévias de subtotal e saldo, confirmações e edição de dados de ordens abertas. Validação em MariaDB do XAMPP; MySQL 8 dedicado ainda requer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Arthur Krebs Delvons explica a operação. Administrador e mecânico adicionam e removem itens nas ordens ainda abertas. Remover peça devolve estoque. Conclusão bloqueia edição de itens. A ordem pode ser impressa.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Escopo: PDF fornecido pelo usuário, Grupo 04 - Oficina Mecânica, páginas 1 a 4. Evidência técnica: código, banco e resultados em TorqOficina. Capturas reais do sistema com dados fictícios. Material preparado com assistência de IA. O grupo deve considerar a regra da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navegação superior, busca global Ctrl+K, filtros, ordenação, paginação, exportação CSV, prévias de subtotal e saldo, confirmações e edição de dados de ordens abertas. Validação em MariaDB do XAMPP; MySQL 8 dedicado ainda requer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formulário de edição da peça não altera saldo diretamente. Reposição e ajustes exigem movimentação com motivo. Alerta aparece quando saldo é menor ou igual ao mínimo.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Escopo: PDF fornecido pelo usuário, Grupo 04 - Oficina Mecânica, páginas 1 a 4. Evidência técnica: código, banco e resultados em TorqOficina. Capturas reais do sistema com dados fictícios. Material preparado com assistência de IA. O grupo deve considerar a regra da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navegação superior, busca global Ctrl+K, filtros, ordenação, paginação, exportação CSV, prévias de subtotal e saldo, confirmações e edição de dados de ordens abertas. Validação em MariaDB do XAMPP; MySQL 8 dedicado ainda requer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Entradas, saídas e devoluções registram o saldo após a operação. Movimentações manuais não precisam de ordem. A consulta mostra os 500 registros mais recentes.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Escopo: PDF fornecido pelo usuário, Grupo 04 - Oficina Mecânica, páginas 1 a 4. Evidência técnica: código, banco e resultados em TorqOficina. Capturas reais do sistema com dados fictícios. Material preparado com assistência de IA. O grupo deve considerar a regra da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navegação superior, busca global Ctrl+K, filtros, ordenação, paginação, exportação CSV, prévias de subtotal e saldo, confirmações e edição de dados de ordens abertas. Validação em MariaDB do XAMPP; MySQL 8 dedicado ainda requer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Larissa Beatriz Luz explica a rastreabilidade. Eventos são registrados no momento das operações. Ordens encerradas continuam no banco e na consulta.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Escopo: PDF fornecido pelo usuário, Grupo 04 - Oficina Mecânica, páginas 1 a 4. Evidência técnica: código, banco e resultados em TorqOficina. Capturas reais do sistema com dados fictícios. Material preparado com assistência de IA. O grupo deve considerar a regra da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navegação superior, busca global Ctrl+K, filtros, ordenação, paginação, exportação CSV, prévias de subtotal e saldo, confirmações e edição de dados de ordens abertas. Validação em MariaDB do XAMPP; MySQL 8 dedicado ainda requer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Uma conta desativada perde acesso inclusive em uma sessão antiga. O administrador não pode desativar ou rebaixar a própria conta. Trocar senha invalida sessões da conta.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Escopo: PDF fornecido pelo usuário, Grupo 04 - Oficina Mecânica, páginas 1 a 4. Evidência técnica: código, banco e resultados em TorqOficina. Capturas reais do sistema com dados fictícios. Material preparado com assistência de IA. O grupo deve considerar a regra da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navegação superior, busca global Ctrl+K, filtros, ordenação, paginação, exportação CSV, prévias de subtotal e saldo, confirmações e edição de dados de ordens abertas. Validação em MariaDB do XAMPP; MySQL 8 dedicado ainda requer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Consulta dos 500 últimos registros da auditoria. Somente o administrador acessa esta tela e a API. Busca sem distinção de acentos, período, ordenação, paginação e exportação CSV. As alterações de relato e responsável ficam também no histórico da ordem. Captura real com dados fictícios do servidor local. Material preparado com assistência de IA, sujeito à regra da avaliação.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Larissa Beatriz Luz apresenta as evidências. 44 cenários HTTP aprovados, cinco invariantes verificadas por JDBC e navegação nas 12 telas. Testes ocorreram em Java 23, Connector/J 8.4.0, MariaDB 10.4.32 do XAMPP e Edge. MySQL 8 dedicado não foi executado neste ambiente.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Escopo: PDF fornecido pelo usuário, Grupo 04 - Oficina Mecânica, páginas 1 a 4. Evidência técnica: código, banco e resultados em TorqOficina. Capturas reais do sistema com dados fictícios. Material preparado com assistência de IA. O grupo deve considerar a regra da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navegação superior, busca global Ctrl+K, filtros, ordenação, paginação, exportação CSV, prévias de subtotal e saldo, confirmações e edição de dados de ordens abertas. Validação em MariaDB do XAMPP; MySQL 8 dedicado ainda requer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dificuldades correspondem ao desenvolvimento e à validação desta implementação. Não atribuir os problemas aos integrantes como experiências que já viveram. O defeito CT31 foi corrigido e repetido com aprovação.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Escopo: PDF fornecido pelo usuário, Grupo 04 - Oficina Mecânica, páginas 1 a 4. Evidência técnica: código, banco e resultados em TorqOficina. Capturas reais do sistema com dados fictícios. Material preparado com assistência de IA. O grupo deve considerar a regra da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navegação superior, busca global Ctrl+K, filtros, ordenação, paginação, exportação CSV, prévias de subtotal e saldo, confirmações e edição de dados de ordens abertas. Validação em MariaDB do XAMPP; MySQL 8 dedicado ainda requer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Executar o sistema ao vivo. Roteiro completo acompanha a entrega. Login admin@torq.local, senha Oficina@123. Criar cliente e veículo GPO4A04, se ainda não existem. Abrir ordem e avançar para execução. Adicionar troca de óleo R$90, quatro litros R$42,90 e filtro R$35. Total R$296,60. Tentar quantidade excessiva, conferir saldo, concluir, entregar e consultar histórico.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Escopo: PDF fornecido pelo usuário, Grupo 04 - Oficina Mecânica, páginas 1 a 4. Evidência técnica: código, banco e resultados em TorqOficina. Capturas reais do sistema com dados fictícios. Material preparado com assistência de IA. O grupo deve considerar a regra da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navegação superior, busca global Ctrl+K, filtros, ordenação, paginação, exportação CSV, prévias de subtotal e saldo, confirmações e edição de dados de ordens abertas. Validação em MariaDB do XAMPP; MySQL 8 dedicado ainda requer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divisão abaixo é uma sugestão para o ensaio. Não afirma quem escreveu o código. Todos devem compreender o funcionamento geral, as tabelas, as regras de estoque e os testes. A apresentação presencial e o domínio individual dependem do grupo. A regra do enunciado sobre IA precisa ser considerada antes da entrega.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Escopo: PDF fornecido pelo usuário, Grupo 04 - Oficina Mecânica, páginas 1 a 4. Evidência técnica: código, banco e resultados em TorqOficina. Capturas reais do sistema com dados fictícios. Material preparado com assistência de IA. O grupo deve considerar a regra da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navegação superior, busca global Ctrl+K, filtros, ordenação, paginação, exportação CSV, prévias de subtotal e saldo, confirmações e edição de dados de ordens abertas. Validação em MariaDB do XAMPP; MySQL 8 dedicado ainda requer confirmação.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d22ff366e64c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e4d9611164e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ce6e2b7b7a4b3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2e9b0dee849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84de085bc43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75439110564e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AFD31F-5E6F-4DB0-836A-E53CCCDC33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7F12C44-E357-440F-B537-7AEB4959BBE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92107D5-5A75-4D26-8A1B-DD507A65EA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3952B7-9122-4786-B7A5-65EE587146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6E83152-97CE-4EE7-B97D-BF4163B1BC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55AD2DD-68E8-4448-ACF9-191311390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D48B43-C69B-4CCF-A2B0-16D74BA649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82F0914-35D2-4744-AF73-C4C9A685AB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130A38-8476-48E1-A2E9-3861340CC3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2C4373-F227-4AD5-93B8-8E2A8903CC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fd2ad954df4968" /><Relationship Type="http://schemas.openxmlformats.org/officeDocument/2006/relationships/slideLayout" Target="/ppt/slideLayouts/slideLayout1.xml" Id="R080eb0a555dd4118" /><Relationship Type="http://schemas.openxmlformats.org/officeDocument/2006/relationships/slideLayout" Target="/ppt/slideLayouts/slideLayout2.xml" Id="R060175d3c77b48f0" /><Relationship Type="http://schemas.openxmlformats.org/officeDocument/2006/relationships/slideLayout" Target="/ppt/slideLayouts/slideLayout3.xml" Id="R6ff46ee520904774" /><Relationship Type="http://schemas.openxmlformats.org/officeDocument/2006/relationships/slideLayout" Target="/ppt/slideLayouts/slideLayout4.xml" Id="R351e5a726a354fd6" /><Relationship Type="http://schemas.openxmlformats.org/officeDocument/2006/relationships/slideLayout" Target="/ppt/slideLayouts/slideLayout5.xml" Id="Rbbf0f7e7787e474d" /><Relationship Type="http://schemas.openxmlformats.org/officeDocument/2006/relationships/slideLayout" Target="/ppt/slideLayouts/slideLayout6.xml" Id="R34d4c8cec42244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0eb0a555dd4118"/>
    <p:sldLayoutId xmlns:r="http://schemas.openxmlformats.org/officeDocument/2006/relationships" id="2147483650" r:id="R060175d3c77b48f0"/>
    <p:sldLayoutId xmlns:r="http://schemas.openxmlformats.org/officeDocument/2006/relationships" id="2147483651" r:id="R6ff46ee520904774"/>
    <p:sldLayoutId xmlns:r="http://schemas.openxmlformats.org/officeDocument/2006/relationships" id="2147483652" r:id="R351e5a726a354fd6"/>
    <p:sldLayoutId xmlns:r="http://schemas.openxmlformats.org/officeDocument/2006/relationships" id="2147483653" r:id="Rbbf0f7e7787e474d"/>
    <p:sldLayoutId xmlns:r="http://schemas.openxmlformats.org/officeDocument/2006/relationships" id="2147483654" r:id="R34d4c8cec42244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bc81b981f64e56" /><Relationship Type="http://schemas.openxmlformats.org/officeDocument/2006/relationships/image" Target="/ppt/media/image.png" Id="R88f86f1f367d4b1e" /><Relationship Type="http://schemas.openxmlformats.org/officeDocument/2006/relationships/image" Target="/ppt/media/image.svg" Id="R810018dee8514848" /><Relationship Type="http://schemas.openxmlformats.org/officeDocument/2006/relationships/notesSlide" Target="/ppt/notesSlides/notesSlide1.xml" Id="Rd63803be43d640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8f5eaec57e4748" /><Relationship Type="http://schemas.openxmlformats.org/officeDocument/2006/relationships/notesSlide" Target="/ppt/notesSlides/notesSlide2.xml" Id="Rf511c45de64240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63e83b6b914735" /><Relationship Type="http://schemas.openxmlformats.org/officeDocument/2006/relationships/notesSlide" Target="/ppt/notesSlides/notesSlide3.xml" Id="Rf2463e88fde84e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85e6e9e3fc45d5" /><Relationship Type="http://schemas.openxmlformats.org/officeDocument/2006/relationships/notesSlide" Target="/ppt/notesSlides/notesSlide4.xml" Id="R94fb5a1d0bca4a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66e2f33a724559" /><Relationship Type="http://schemas.openxmlformats.org/officeDocument/2006/relationships/notesSlide" Target="/ppt/notesSlides/notesSlide5.xml" Id="R0b4d40c501a442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1b024f82e54d97" /><Relationship Type="http://schemas.openxmlformats.org/officeDocument/2006/relationships/notesSlide" Target="/ppt/notesSlides/notesSlide6.xml" Id="R4e66149987f74e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9b0d7407c041d0" /><Relationship Type="http://schemas.openxmlformats.org/officeDocument/2006/relationships/notesSlide" Target="/ppt/notesSlides/notesSlide7.xml" Id="R5634b134969542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6dbd7faf2145a0" /><Relationship Type="http://schemas.openxmlformats.org/officeDocument/2006/relationships/notesSlide" Target="/ppt/notesSlides/notesSlide8.xml" Id="R8fc1cebc0c8549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72fd272aa74708" /><Relationship Type="http://schemas.openxmlformats.org/officeDocument/2006/relationships/notesSlide" Target="/ppt/notesSlides/notesSlide9.xml" Id="Rbb8b16a530fc44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e758a487a84aed" /><Relationship Type="http://schemas.openxmlformats.org/officeDocument/2006/relationships/image" Target="/ppt/media/image2.png" Id="R1363fff85f2e43a0" /><Relationship Type="http://schemas.openxmlformats.org/officeDocument/2006/relationships/notesSlide" Target="/ppt/notesSlides/notesSlide10.xml" Id="R99aa98b518ae4a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00a0b62fda457e" /><Relationship Type="http://schemas.openxmlformats.org/officeDocument/2006/relationships/image" Target="/ppt/media/image3.png" Id="Rc9c348eabcc54665" /><Relationship Type="http://schemas.openxmlformats.org/officeDocument/2006/relationships/notesSlide" Target="/ppt/notesSlides/notesSlide11.xml" Id="Rdd90338512d841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ee3b1cc39d4dea" /><Relationship Type="http://schemas.openxmlformats.org/officeDocument/2006/relationships/image" Target="/ppt/media/image4.png" Id="Re324c31535004191" /><Relationship Type="http://schemas.openxmlformats.org/officeDocument/2006/relationships/notesSlide" Target="/ppt/notesSlides/notesSlide12.xml" Id="R94a98d39df3049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ef8a2cc86c4c70" /><Relationship Type="http://schemas.openxmlformats.org/officeDocument/2006/relationships/image" Target="/ppt/media/image5.png" Id="R2e373d89ad5a4c94" /><Relationship Type="http://schemas.openxmlformats.org/officeDocument/2006/relationships/notesSlide" Target="/ppt/notesSlides/notesSlide13.xml" Id="Rdbf4fa25251642a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8f7635a1a74475" /><Relationship Type="http://schemas.openxmlformats.org/officeDocument/2006/relationships/image" Target="/ppt/media/image6.png" Id="Re687bfff14384455" /><Relationship Type="http://schemas.openxmlformats.org/officeDocument/2006/relationships/notesSlide" Target="/ppt/notesSlides/notesSlide14.xml" Id="R5705f601d14346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8660edfd494dfb" /><Relationship Type="http://schemas.openxmlformats.org/officeDocument/2006/relationships/image" Target="/ppt/media/image7.png" Id="R1e109d58d0e74612" /><Relationship Type="http://schemas.openxmlformats.org/officeDocument/2006/relationships/notesSlide" Target="/ppt/notesSlides/notesSlide15.xml" Id="Rd28851e54dfc43e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0e8a60eb714e97" /><Relationship Type="http://schemas.openxmlformats.org/officeDocument/2006/relationships/image" Target="/ppt/media/image8.png" Id="Rda8e45d42eef4ae4" /><Relationship Type="http://schemas.openxmlformats.org/officeDocument/2006/relationships/notesSlide" Target="/ppt/notesSlides/notesSlide16.xml" Id="R8feb1724046342c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1adfd1c4a049fe" /><Relationship Type="http://schemas.openxmlformats.org/officeDocument/2006/relationships/image" Target="/ppt/media/image9.png" Id="Rcb182351f1cc42f6" /><Relationship Type="http://schemas.openxmlformats.org/officeDocument/2006/relationships/notesSlide" Target="/ppt/notesSlides/notesSlide17.xml" Id="Ra90508b599244ce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728fe522f140ee" /><Relationship Type="http://schemas.openxmlformats.org/officeDocument/2006/relationships/image" Target="/ppt/media/image10.png" Id="R2ae9b9d52b354024" /><Relationship Type="http://schemas.openxmlformats.org/officeDocument/2006/relationships/notesSlide" Target="/ppt/notesSlides/notesSlide18.xml" Id="R850a9014258b44b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89a47f960c42dd" /><Relationship Type="http://schemas.openxmlformats.org/officeDocument/2006/relationships/image" Target="/ppt/media/image11.png" Id="R29cf1fdb792040ff" /><Relationship Type="http://schemas.openxmlformats.org/officeDocument/2006/relationships/notesSlide" Target="/ppt/notesSlides/notesSlide19.xml" Id="R49bfc7bfe805475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300c7df70b41ca" /><Relationship Type="http://schemas.openxmlformats.org/officeDocument/2006/relationships/image" Target="/ppt/media/image12.png" Id="Re992a060c54c4cf7" /><Relationship Type="http://schemas.openxmlformats.org/officeDocument/2006/relationships/notesSlide" Target="/ppt/notesSlides/notesSlide20.xml" Id="Rf6a1fff009704a2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72b1dd541a45ed" /><Relationship Type="http://schemas.openxmlformats.org/officeDocument/2006/relationships/image" Target="/ppt/media/image13.png" Id="R12dbdc830e2645a9" /><Relationship Type="http://schemas.openxmlformats.org/officeDocument/2006/relationships/notesSlide" Target="/ppt/notesSlides/notesSlide21.xml" Id="R21a91594ccab4d8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354fa3a4204dba" /><Relationship Type="http://schemas.openxmlformats.org/officeDocument/2006/relationships/notesSlide" Target="/ppt/notesSlides/notesSlide22.xml" Id="Rc1326a8dea9640e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bbb6249d434481" /><Relationship Type="http://schemas.openxmlformats.org/officeDocument/2006/relationships/notesSlide" Target="/ppt/notesSlides/notesSlide23.xml" Id="R37c93b0970a3443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51f9c9a0f64ec4" /><Relationship Type="http://schemas.openxmlformats.org/officeDocument/2006/relationships/notesSlide" Target="/ppt/notesSlides/notesSlide24.xml" Id="R6c6d1904d3aa4f6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2eebaedb684492" /><Relationship Type="http://schemas.openxmlformats.org/officeDocument/2006/relationships/notesSlide" Target="/ppt/notesSlides/notesSlide25.xml" Id="R63020ee9e6984e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C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842CE-C4CE-4A48-B97B-36FC9BE48A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86f1f367d4b1e">
            <a:extLst>
              <a:ext uri="{96DAC541-7B7A-43D3-8B79-37D633B846F1}">
                <asvg:svgBlip xmlns:asvg="http://schemas.microsoft.com/office/drawing/2016/SVG/main" r:embed="R810018dee85148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6750" y="619125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2" name="titulo">
            <a:extLst xmlns:a="http://schemas.openxmlformats.org/drawingml/2006/main">
              <a:ext uri="{FF2B5EF4-FFF2-40B4-BE49-F238E27FC236}">
                <a16:creationId xmlns:a16="http://schemas.microsoft.com/office/drawing/2014/main" id="{7489B44A-C297-4848-9E45-551B312D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Torq Oficina</a:t>
            </a:r>
          </a:p>
        </p:txBody>
      </p:sp>
      <p:sp>
        <p:nvSpPr>
          <p:cNvPr id="3" name="texto">
            <a:extLst xmlns:a="http://schemas.openxmlformats.org/drawingml/2006/main">
              <a:ext uri="{FF2B5EF4-FFF2-40B4-BE49-F238E27FC236}">
                <a16:creationId xmlns:a16="http://schemas.microsoft.com/office/drawing/2014/main" id="{D52573D7-A857-4B30-A9DF-C7C6D67A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DCE6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700" b="0">
                <a:solidFill>
                  <a:srgbClr val="DCE6DD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DCE6DD"/>
                </a:solidFill>
                <a:latin typeface="Arial"/>
                <a:ea typeface="Arial"/>
                <a:cs typeface="Arial"/>
              </a:rPr>
              <a:t>Gestão de atendimentos e estoque</a:t>
            </a:r>
          </a:p>
        </p:txBody>
      </p:sp>
      <p:sp>
        <p:nvSpPr>
          <p:cNvPr id="4" name="texto">
            <a:extLst xmlns:a="http://schemas.openxmlformats.org/drawingml/2006/main">
              <a:ext uri="{FF2B5EF4-FFF2-40B4-BE49-F238E27FC236}">
                <a16:creationId xmlns:a16="http://schemas.microsoft.com/office/drawing/2014/main" id="{188AE776-B85C-421C-B6E7-90C5382B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EDA1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EDA17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A17C"/>
                </a:solidFill>
                <a:latin typeface="Arial"/>
                <a:ea typeface="Arial"/>
                <a:cs typeface="Arial"/>
              </a:rPr>
              <a:t>Grupo 04  /  Oficina Rota 4</a:t>
            </a:r>
          </a:p>
        </p:txBody>
      </p:sp>
      <p:sp>
        <p:nvSpPr>
          <p:cNvPr id="5" name="texto">
            <a:extLst xmlns:a="http://schemas.openxmlformats.org/drawingml/2006/main">
              <a:ext uri="{FF2B5EF4-FFF2-40B4-BE49-F238E27FC236}">
                <a16:creationId xmlns:a16="http://schemas.microsoft.com/office/drawing/2014/main" id="{452312B3-F397-402A-BFE1-DFFD7E0E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A7BE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A7BEB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7BEB0"/>
                </a:solidFill>
                <a:latin typeface="Arial"/>
                <a:ea typeface="Arial"/>
                <a:cs typeface="Arial"/>
              </a:rPr>
              <a:t>Testes de Sistemas · Java + MySQL</a:t>
            </a:r>
          </a:p>
        </p:txBody>
      </p:sp>
    </p:spTree>
    <p:extLst>
      <p:ext uri="{BB962C8B-B14F-4D97-AF65-F5344CB8AC3E}">
        <p14:creationId xmlns:p14="http://schemas.microsoft.com/office/powerpoint/2010/main" val="19480140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ulo">
            <a:extLst xmlns:a="http://schemas.openxmlformats.org/drawingml/2006/main">
              <a:ext uri="{FF2B5EF4-FFF2-40B4-BE49-F238E27FC236}">
                <a16:creationId xmlns:a16="http://schemas.microsoft.com/office/drawing/2014/main" id="{4745C482-4011-4AA6-B3D2-304B4B0B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Grupo e cliente</a:t>
            </a:r>
          </a:p>
        </p:txBody>
      </p:sp>
      <p:sp>
        <p:nvSpPr>
          <p:cNvPr id="2" name="texto">
            <a:extLst xmlns:a="http://schemas.openxmlformats.org/drawingml/2006/main">
              <a:ext uri="{FF2B5EF4-FFF2-40B4-BE49-F238E27FC236}">
                <a16:creationId xmlns:a16="http://schemas.microsoft.com/office/drawing/2014/main" id="{5FF17F77-C412-4FAB-A61F-0D4DA570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Torq Oficina  /  Grupo 04</a:t>
            </a:r>
          </a:p>
        </p:txBody>
      </p:sp>
      <p:sp>
        <p:nvSpPr>
          <p:cNvPr id="3" name="texto">
            <a:extLst xmlns:a="http://schemas.openxmlformats.org/drawingml/2006/main">
              <a:ext uri="{FF2B5EF4-FFF2-40B4-BE49-F238E27FC236}">
                <a16:creationId xmlns:a16="http://schemas.microsoft.com/office/drawing/2014/main" id="{EAC7723C-7F01-4EAE-8654-893680F7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o">
            <a:extLst xmlns:a="http://schemas.openxmlformats.org/drawingml/2006/main">
              <a:ext uri="{FF2B5EF4-FFF2-40B4-BE49-F238E27FC236}">
                <a16:creationId xmlns:a16="http://schemas.microsoft.com/office/drawing/2014/main" id="{3D582DD4-31CF-4F5A-9F05-B6E91413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Oficina Rota 4</a:t>
            </a:r>
          </a:p>
        </p:txBody>
      </p:sp>
      <p:sp>
        <p:nvSpPr>
          <p:cNvPr id="5" name="texto">
            <a:extLst xmlns:a="http://schemas.openxmlformats.org/drawingml/2006/main">
              <a:ext uri="{FF2B5EF4-FFF2-40B4-BE49-F238E27FC236}">
                <a16:creationId xmlns:a16="http://schemas.microsoft.com/office/drawing/2014/main" id="{485541CF-062C-4E8F-B5D8-2676F9E3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466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Cliente fictício de manutenção</a:t>
            </a:r>
          </a:p>
          <a:p xmlns:a="http://schemas.openxmlformats.org/drawingml/2006/main">
            <a:pPr>
              <a:buNone/>
              <a:defRPr sz="22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e reparo de veículos.</a:t>
            </a:r>
          </a:p>
        </p:txBody>
      </p:sp>
      <p:sp>
        <p:nvSpPr>
          <p:cNvPr id="6" name="texto">
            <a:extLst xmlns:a="http://schemas.openxmlformats.org/drawingml/2006/main">
              <a:ext uri="{FF2B5EF4-FFF2-40B4-BE49-F238E27FC236}">
                <a16:creationId xmlns:a16="http://schemas.microsoft.com/office/drawing/2014/main" id="{AD66F84D-813E-4840-803F-969507F5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4714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Docente</a:t>
            </a:r>
          </a:p>
          <a:p xmlns:a="http://schemas.openxmlformats.org/drawingml/2006/main">
            <a:pPr>
              <a:buNone/>
              <a:defRPr sz="1875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Éder Gabriel Rigueira Campos</a:t>
            </a:r>
          </a:p>
        </p:txBody>
      </p:sp>
      <p:sp>
        <p:nvSpPr>
          <p:cNvPr id="7" name="texto">
            <a:extLst xmlns:a="http://schemas.openxmlformats.org/drawingml/2006/main">
              <a:ext uri="{FF2B5EF4-FFF2-40B4-BE49-F238E27FC236}">
                <a16:creationId xmlns:a16="http://schemas.microsoft.com/office/drawing/2014/main" id="{53C4355F-FF1B-477C-BD22-5311ABC9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43050"/>
            <a:ext cx="55816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Fernando Ian Harmel</a:t>
            </a:r>
          </a:p>
          <a:p xmlns:a="http://schemas.openxmlformats.org/drawingml/2006/main">
            <a:pPr>
              <a:buNone/>
              <a:defRPr sz="217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Arthur Ayyub Rodrigues</a:t>
            </a:r>
          </a:p>
          <a:p xmlns:a="http://schemas.openxmlformats.org/drawingml/2006/main">
            <a:pPr>
              <a:buNone/>
              <a:defRPr sz="217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Victor Nestor Prim</a:t>
            </a:r>
          </a:p>
          <a:p xmlns:a="http://schemas.openxmlformats.org/drawingml/2006/main">
            <a:pPr>
              <a:buNone/>
              <a:defRPr sz="217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Arthur Krebs Delvons</a:t>
            </a:r>
          </a:p>
          <a:p xmlns:a="http://schemas.openxmlformats.org/drawingml/2006/main">
            <a:pPr>
              <a:buNone/>
              <a:defRPr sz="217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Larissa Beatriz Luz</a:t>
            </a:r>
          </a:p>
        </p:txBody>
      </p:sp>
      <p:sp>
        <p:nvSpPr>
          <p:cNvPr id="8" name="texto">
            <a:extLst xmlns:a="http://schemas.openxmlformats.org/drawingml/2006/main">
              <a:ext uri="{FF2B5EF4-FFF2-40B4-BE49-F238E27FC236}">
                <a16:creationId xmlns:a16="http://schemas.microsoft.com/office/drawing/2014/main" id="{544BF04B-9349-49B1-A415-5B343B98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91100"/>
            <a:ext cx="5581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Técnico em Desenvolvimento de Sistemas</a:t>
            </a:r>
          </a:p>
          <a:p xmlns:a="http://schemas.openxmlformats.org/drawingml/2006/main">
            <a:pPr>
              <a:buNone/>
              <a:defRPr sz="180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Unidade curricular: Testes de Sistemas</a:t>
            </a:r>
          </a:p>
        </p:txBody>
      </p:sp>
    </p:spTree>
    <p:extLst>
      <p:ext uri="{BB962C8B-B14F-4D97-AF65-F5344CB8AC3E}">
        <p14:creationId xmlns:p14="http://schemas.microsoft.com/office/powerpoint/2010/main" val="3889837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ulo">
            <a:extLst xmlns:a="http://schemas.openxmlformats.org/drawingml/2006/main">
              <a:ext uri="{FF2B5EF4-FFF2-40B4-BE49-F238E27FC236}">
                <a16:creationId xmlns:a16="http://schemas.microsoft.com/office/drawing/2014/main" id="{6FD0B322-2C54-4492-A033-EAC53A6E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Problema e proposta</a:t>
            </a:r>
          </a:p>
        </p:txBody>
      </p:sp>
      <p:sp>
        <p:nvSpPr>
          <p:cNvPr id="2" name="texto">
            <a:extLst xmlns:a="http://schemas.openxmlformats.org/drawingml/2006/main">
              <a:ext uri="{FF2B5EF4-FFF2-40B4-BE49-F238E27FC236}">
                <a16:creationId xmlns:a16="http://schemas.microsoft.com/office/drawing/2014/main" id="{870260DE-D20D-4DEE-B442-FD93B8C5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Torq Oficina  /  Grupo 04</a:t>
            </a:r>
          </a:p>
        </p:txBody>
      </p:sp>
      <p:sp>
        <p:nvSpPr>
          <p:cNvPr id="3" name="texto">
            <a:extLst xmlns:a="http://schemas.openxmlformats.org/drawingml/2006/main">
              <a:ext uri="{FF2B5EF4-FFF2-40B4-BE49-F238E27FC236}">
                <a16:creationId xmlns:a16="http://schemas.microsoft.com/office/drawing/2014/main" id="{75C7848D-CE4C-4D78-B838-739B5954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exto">
            <a:extLst xmlns:a="http://schemas.openxmlformats.org/drawingml/2006/main">
              <a:ext uri="{FF2B5EF4-FFF2-40B4-BE49-F238E27FC236}">
                <a16:creationId xmlns:a16="http://schemas.microsoft.com/office/drawing/2014/main" id="{39908133-8B5A-474B-B675-4A293EE0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O problema</a:t>
            </a:r>
          </a:p>
        </p:txBody>
      </p:sp>
      <p:sp>
        <p:nvSpPr>
          <p:cNvPr id="5" name="texto">
            <a:extLst xmlns:a="http://schemas.openxmlformats.org/drawingml/2006/main">
              <a:ext uri="{FF2B5EF4-FFF2-40B4-BE49-F238E27FC236}">
                <a16:creationId xmlns:a16="http://schemas.microsoft.com/office/drawing/2014/main" id="{BD35C9D1-7E48-4284-BD9B-46398915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4953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Registros manuais dificultam</a:t>
            </a:r>
          </a:p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localizar clientes, acompanhar</a:t>
            </a:r>
          </a:p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reparos e conferir peças</a:t>
            </a:r>
          </a:p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disponíveis.</a:t>
            </a:r>
          </a:p>
        </p:txBody>
      </p:sp>
      <p:sp>
        <p:nvSpPr>
          <p:cNvPr id="6" name="texto">
            <a:extLst xmlns:a="http://schemas.openxmlformats.org/drawingml/2006/main">
              <a:ext uri="{FF2B5EF4-FFF2-40B4-BE49-F238E27FC236}">
                <a16:creationId xmlns:a16="http://schemas.microsoft.com/office/drawing/2014/main" id="{E25E791F-8FAD-4C81-99E9-AA76578A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002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A solução</a:t>
            </a:r>
          </a:p>
        </p:txBody>
      </p:sp>
      <p:sp>
        <p:nvSpPr>
          <p:cNvPr id="7" name="texto">
            <a:extLst xmlns:a="http://schemas.openxmlformats.org/drawingml/2006/main">
              <a:ext uri="{FF2B5EF4-FFF2-40B4-BE49-F238E27FC236}">
                <a16:creationId xmlns:a16="http://schemas.microsoft.com/office/drawing/2014/main" id="{8525F72B-4E02-4D76-B128-F3D5BF52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19300"/>
            <a:ext cx="5238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Cada atendimento reúne veículo,</a:t>
            </a:r>
          </a:p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responsável, serviços, peças e</a:t>
            </a:r>
          </a:p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histórico em uma ordem.</a:t>
            </a:r>
          </a:p>
        </p:txBody>
      </p:sp>
      <p:sp>
        <p:nvSpPr>
          <p:cNvPr id="8" name="texto">
            <a:extLst xmlns:a="http://schemas.openxmlformats.org/drawingml/2006/main">
              <a:ext uri="{FF2B5EF4-FFF2-40B4-BE49-F238E27FC236}">
                <a16:creationId xmlns:a16="http://schemas.microsoft.com/office/drawing/2014/main" id="{415F8AD3-1B1C-4DC6-9A52-B5DA2181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Um fluxo completo de atendimento</a:t>
            </a:r>
          </a:p>
        </p:txBody>
      </p:sp>
      <p:sp>
        <p:nvSpPr>
          <p:cNvPr id="9" name="texto">
            <a:extLst xmlns:a="http://schemas.openxmlformats.org/drawingml/2006/main">
              <a:ext uri="{FF2B5EF4-FFF2-40B4-BE49-F238E27FC236}">
                <a16:creationId xmlns:a16="http://schemas.microsoft.com/office/drawing/2014/main" id="{055FB04B-018C-4A5D-A1E5-F7839820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Recepção do veículo, execução da manutenção e entrega com registros persistidos no banco.</a:t>
            </a:r>
          </a:p>
        </p:txBody>
      </p:sp>
    </p:spTree>
    <p:extLst>
      <p:ext uri="{BB962C8B-B14F-4D97-AF65-F5344CB8AC3E}">
        <p14:creationId xmlns:p14="http://schemas.microsoft.com/office/powerpoint/2010/main" val="17535245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ulo">
            <a:extLst xmlns:a="http://schemas.openxmlformats.org/drawingml/2006/main">
              <a:ext uri="{FF2B5EF4-FFF2-40B4-BE49-F238E27FC236}">
                <a16:creationId xmlns:a16="http://schemas.microsoft.com/office/drawing/2014/main" id="{E6B23AD6-261E-4FDE-BB1B-5D8C7D91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Requisitos do sistema</a:t>
            </a:r>
          </a:p>
        </p:txBody>
      </p:sp>
      <p:sp>
        <p:nvSpPr>
          <p:cNvPr id="2" name="texto">
            <a:extLst xmlns:a="http://schemas.openxmlformats.org/drawingml/2006/main">
              <a:ext uri="{FF2B5EF4-FFF2-40B4-BE49-F238E27FC236}">
                <a16:creationId xmlns:a16="http://schemas.microsoft.com/office/drawing/2014/main" id="{270636F1-5B03-40A8-9F7C-5DBE0BA1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Torq Oficina  /  Grupo 04</a:t>
            </a:r>
          </a:p>
        </p:txBody>
      </p:sp>
      <p:sp>
        <p:nvSpPr>
          <p:cNvPr id="3" name="texto">
            <a:extLst xmlns:a="http://schemas.openxmlformats.org/drawingml/2006/main">
              <a:ext uri="{FF2B5EF4-FFF2-40B4-BE49-F238E27FC236}">
                <a16:creationId xmlns:a16="http://schemas.microsoft.com/office/drawing/2014/main" id="{2E623EBE-A028-4049-AA9D-CAFC3187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o">
            <a:extLst xmlns:a="http://schemas.openxmlformats.org/drawingml/2006/main">
              <a:ext uri="{FF2B5EF4-FFF2-40B4-BE49-F238E27FC236}">
                <a16:creationId xmlns:a16="http://schemas.microsoft.com/office/drawing/2014/main" id="{12572F2A-0B72-4C48-83B5-9F747AAA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Acesso e cadastros</a:t>
            </a:r>
          </a:p>
        </p:txBody>
      </p:sp>
      <p:sp>
        <p:nvSpPr>
          <p:cNvPr id="5" name="texto">
            <a:extLst xmlns:a="http://schemas.openxmlformats.org/drawingml/2006/main">
              <a:ext uri="{FF2B5EF4-FFF2-40B4-BE49-F238E27FC236}">
                <a16:creationId xmlns:a16="http://schemas.microsoft.com/office/drawing/2014/main" id="{F1F1F6ED-0BE1-49C5-BEDA-885CC642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Usuários com perfis. Clientes e</a:t>
            </a:r>
          </a:p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veículos vinculados. Catálogos de</a:t>
            </a:r>
          </a:p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serviços e peças.</a:t>
            </a:r>
          </a:p>
        </p:txBody>
      </p:sp>
      <p:sp>
        <p:nvSpPr>
          <p:cNvPr id="6" name="texto">
            <a:extLst xmlns:a="http://schemas.openxmlformats.org/drawingml/2006/main">
              <a:ext uri="{FF2B5EF4-FFF2-40B4-BE49-F238E27FC236}">
                <a16:creationId xmlns:a16="http://schemas.microsoft.com/office/drawing/2014/main" id="{99430AB8-75C2-45C8-B200-5AAF8705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33525"/>
            <a:ext cx="5200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Atendimento</a:t>
            </a:r>
          </a:p>
        </p:txBody>
      </p:sp>
      <p:sp>
        <p:nvSpPr>
          <p:cNvPr id="7" name="texto">
            <a:extLst xmlns:a="http://schemas.openxmlformats.org/drawingml/2006/main">
              <a:ext uri="{FF2B5EF4-FFF2-40B4-BE49-F238E27FC236}">
                <a16:creationId xmlns:a16="http://schemas.microsoft.com/office/drawing/2014/main" id="{6DE40FC3-4F9F-470C-ACD8-C2A93D5A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52006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Ordem, responsável e relato.</a:t>
            </a:r>
          </a:p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Itens, valores e situação.</a:t>
            </a:r>
          </a:p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Edição durante a execução.</a:t>
            </a:r>
          </a:p>
        </p:txBody>
      </p:sp>
      <p:sp>
        <p:nvSpPr>
          <p:cNvPr id="8" name="texto">
            <a:extLst xmlns:a="http://schemas.openxmlformats.org/drawingml/2006/main">
              <a:ext uri="{FF2B5EF4-FFF2-40B4-BE49-F238E27FC236}">
                <a16:creationId xmlns:a16="http://schemas.microsoft.com/office/drawing/2014/main" id="{801F8E7C-4815-43DF-9DBC-3F2CDC69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Estoque</a:t>
            </a:r>
          </a:p>
        </p:txBody>
      </p:sp>
      <p:sp>
        <p:nvSpPr>
          <p:cNvPr id="9" name="texto">
            <a:extLst xmlns:a="http://schemas.openxmlformats.org/drawingml/2006/main">
              <a:ext uri="{FF2B5EF4-FFF2-40B4-BE49-F238E27FC236}">
                <a16:creationId xmlns:a16="http://schemas.microsoft.com/office/drawing/2014/main" id="{16900E40-0624-4800-A603-9AE34529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5048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Entrada, saída, devolução e alerta</a:t>
            </a:r>
          </a:p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quando o saldo atinge o mínimo.</a:t>
            </a:r>
          </a:p>
        </p:txBody>
      </p:sp>
      <p:sp>
        <p:nvSpPr>
          <p:cNvPr id="10" name="texto">
            <a:extLst xmlns:a="http://schemas.openxmlformats.org/drawingml/2006/main">
              <a:ext uri="{FF2B5EF4-FFF2-40B4-BE49-F238E27FC236}">
                <a16:creationId xmlns:a16="http://schemas.microsoft.com/office/drawing/2014/main" id="{07E73003-17C8-47CC-BE72-B57B54D9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67125"/>
            <a:ext cx="5200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Histórico e consulta</a:t>
            </a:r>
          </a:p>
        </p:txBody>
      </p:sp>
      <p:sp>
        <p:nvSpPr>
          <p:cNvPr id="11" name="texto">
            <a:extLst xmlns:a="http://schemas.openxmlformats.org/drawingml/2006/main">
              <a:ext uri="{FF2B5EF4-FFF2-40B4-BE49-F238E27FC236}">
                <a16:creationId xmlns:a16="http://schemas.microsoft.com/office/drawing/2014/main" id="{DEA92F3B-FECF-4AA3-95B5-0EEF9322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86225"/>
            <a:ext cx="5200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Busca global, filtros e CSV.</a:t>
            </a:r>
          </a:p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Ordenação e paginação.</a:t>
            </a:r>
          </a:p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Histórico e auditoria.</a:t>
            </a:r>
          </a:p>
        </p:txBody>
      </p:sp>
    </p:spTree>
    <p:extLst>
      <p:ext uri="{BB962C8B-B14F-4D97-AF65-F5344CB8AC3E}">
        <p14:creationId xmlns:p14="http://schemas.microsoft.com/office/powerpoint/2010/main" val="21159421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ulo">
            <a:extLst xmlns:a="http://schemas.openxmlformats.org/drawingml/2006/main">
              <a:ext uri="{FF2B5EF4-FFF2-40B4-BE49-F238E27FC236}">
                <a16:creationId xmlns:a16="http://schemas.microsoft.com/office/drawing/2014/main" id="{008F6208-A34C-40CF-9FB7-B238823F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Regras centrais</a:t>
            </a:r>
          </a:p>
        </p:txBody>
      </p:sp>
      <p:sp>
        <p:nvSpPr>
          <p:cNvPr id="2" name="texto">
            <a:extLst xmlns:a="http://schemas.openxmlformats.org/drawingml/2006/main">
              <a:ext uri="{FF2B5EF4-FFF2-40B4-BE49-F238E27FC236}">
                <a16:creationId xmlns:a16="http://schemas.microsoft.com/office/drawing/2014/main" id="{B7ECE73C-4A2A-432A-AC76-2B134B04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Torq Oficina  /  Grupo 04</a:t>
            </a:r>
          </a:p>
        </p:txBody>
      </p:sp>
      <p:sp>
        <p:nvSpPr>
          <p:cNvPr id="3" name="texto">
            <a:extLst xmlns:a="http://schemas.openxmlformats.org/drawingml/2006/main">
              <a:ext uri="{FF2B5EF4-FFF2-40B4-BE49-F238E27FC236}">
                <a16:creationId xmlns:a16="http://schemas.microsoft.com/office/drawing/2014/main" id="{E40AAEB6-16CD-42AB-BE38-0BC78E53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o">
            <a:extLst xmlns:a="http://schemas.openxmlformats.org/drawingml/2006/main">
              <a:ext uri="{FF2B5EF4-FFF2-40B4-BE49-F238E27FC236}">
                <a16:creationId xmlns:a16="http://schemas.microsoft.com/office/drawing/2014/main" id="{9DF3C7BD-9A2C-467A-A8F9-2EECA010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1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o">
            <a:extLst xmlns:a="http://schemas.openxmlformats.org/drawingml/2006/main">
              <a:ext uri="{FF2B5EF4-FFF2-40B4-BE49-F238E27FC236}">
                <a16:creationId xmlns:a16="http://schemas.microsoft.com/office/drawing/2014/main" id="{B46F613A-5E6C-4BB3-B52F-F8468744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52400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Uma ordem ativa por veículo</a:t>
            </a:r>
          </a:p>
        </p:txBody>
      </p:sp>
      <p:sp>
        <p:nvSpPr>
          <p:cNvPr id="6" name="texto">
            <a:extLst xmlns:a="http://schemas.openxmlformats.org/drawingml/2006/main">
              <a:ext uri="{FF2B5EF4-FFF2-40B4-BE49-F238E27FC236}">
                <a16:creationId xmlns:a16="http://schemas.microsoft.com/office/drawing/2014/main" id="{0349E368-205E-43B4-BB01-A23A1EAC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71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exto">
            <a:extLst xmlns:a="http://schemas.openxmlformats.org/drawingml/2006/main">
              <a:ext uri="{FF2B5EF4-FFF2-40B4-BE49-F238E27FC236}">
                <a16:creationId xmlns:a16="http://schemas.microsoft.com/office/drawing/2014/main" id="{BD8CBA68-F5F8-4692-B33A-FCF1E8D8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9077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Consumo de peças limitado ao saldo disponível</a:t>
            </a:r>
          </a:p>
        </p:txBody>
      </p:sp>
      <p:sp>
        <p:nvSpPr>
          <p:cNvPr id="8" name="texto">
            <a:extLst xmlns:a="http://schemas.openxmlformats.org/drawingml/2006/main">
              <a:ext uri="{FF2B5EF4-FFF2-40B4-BE49-F238E27FC236}">
                <a16:creationId xmlns:a16="http://schemas.microsoft.com/office/drawing/2014/main" id="{A20C6A3A-1BA0-4C6B-89B0-13BA4961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71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texto">
            <a:extLst xmlns:a="http://schemas.openxmlformats.org/drawingml/2006/main">
              <a:ext uri="{FF2B5EF4-FFF2-40B4-BE49-F238E27FC236}">
                <a16:creationId xmlns:a16="http://schemas.microsoft.com/office/drawing/2014/main" id="{0DE1C313-6196-4BC8-B94B-20FE8BF3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575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Preços dos itens preservados na ordem</a:t>
            </a:r>
          </a:p>
        </p:txBody>
      </p:sp>
      <p:sp>
        <p:nvSpPr>
          <p:cNvPr id="10" name="texto">
            <a:extLst xmlns:a="http://schemas.openxmlformats.org/drawingml/2006/main">
              <a:ext uri="{FF2B5EF4-FFF2-40B4-BE49-F238E27FC236}">
                <a16:creationId xmlns:a16="http://schemas.microsoft.com/office/drawing/2014/main" id="{A5C04B7C-65EB-4FD4-93EC-0CF75E34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1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texto">
            <a:extLst xmlns:a="http://schemas.openxmlformats.org/drawingml/2006/main">
              <a:ext uri="{FF2B5EF4-FFF2-40B4-BE49-F238E27FC236}">
                <a16:creationId xmlns:a16="http://schemas.microsoft.com/office/drawing/2014/main" id="{A653B1AB-CB73-4B88-A774-A5CFEFA4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243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Conclusão exige ao menos um serviço</a:t>
            </a:r>
          </a:p>
        </p:txBody>
      </p:sp>
      <p:sp>
        <p:nvSpPr>
          <p:cNvPr id="12" name="texto">
            <a:extLst xmlns:a="http://schemas.openxmlformats.org/drawingml/2006/main">
              <a:ext uri="{FF2B5EF4-FFF2-40B4-BE49-F238E27FC236}">
                <a16:creationId xmlns:a16="http://schemas.microsoft.com/office/drawing/2014/main" id="{18BF72E7-0906-47F4-ACDB-ADB351E0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1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3" name="texto">
            <a:extLst xmlns:a="http://schemas.openxmlformats.org/drawingml/2006/main">
              <a:ext uri="{FF2B5EF4-FFF2-40B4-BE49-F238E27FC236}">
                <a16:creationId xmlns:a16="http://schemas.microsoft.com/office/drawing/2014/main" id="{A7CA1F82-1461-48D1-A5ED-EA15DF42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9110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Cancelamento devolve as peças uma única vez</a:t>
            </a:r>
          </a:p>
        </p:txBody>
      </p:sp>
    </p:spTree>
    <p:extLst>
      <p:ext uri="{BB962C8B-B14F-4D97-AF65-F5344CB8AC3E}">
        <p14:creationId xmlns:p14="http://schemas.microsoft.com/office/powerpoint/2010/main" val="10729547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ulo">
            <a:extLst xmlns:a="http://schemas.openxmlformats.org/drawingml/2006/main">
              <a:ext uri="{FF2B5EF4-FFF2-40B4-BE49-F238E27FC236}">
                <a16:creationId xmlns:a16="http://schemas.microsoft.com/office/drawing/2014/main" id="{DB430BB0-9C71-4619-BA73-A1EA5880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Situações da ordem</a:t>
            </a:r>
          </a:p>
        </p:txBody>
      </p:sp>
      <p:sp>
        <p:nvSpPr>
          <p:cNvPr id="2" name="texto">
            <a:extLst xmlns:a="http://schemas.openxmlformats.org/drawingml/2006/main">
              <a:ext uri="{FF2B5EF4-FFF2-40B4-BE49-F238E27FC236}">
                <a16:creationId xmlns:a16="http://schemas.microsoft.com/office/drawing/2014/main" id="{FEDDFBD1-CECE-4B7A-8F8A-B18CD5C7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Torq Oficina  /  Grupo 04</a:t>
            </a:r>
          </a:p>
        </p:txBody>
      </p:sp>
      <p:sp>
        <p:nvSpPr>
          <p:cNvPr id="3" name="texto">
            <a:extLst xmlns:a="http://schemas.openxmlformats.org/drawingml/2006/main">
              <a:ext uri="{FF2B5EF4-FFF2-40B4-BE49-F238E27FC236}">
                <a16:creationId xmlns:a16="http://schemas.microsoft.com/office/drawing/2014/main" id="{58C6DF45-8647-45DD-A752-B95F096A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087B6-EB63-433D-BDCC-631E2FF8D68C}"/>
              </a:ext>
            </a:extLst>
          </p:cNvPr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734300"/>
              </a:tblGrid>
              <a:tr h="6746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Situação atual</a:t>
                      </a:r>
                    </a:p>
                  </a:txBody>
                  <a:tcPr marL="123825" marR="123825" marT="85725" marB="85725" anchor="ctr">
                    <a:solidFill>
                      <a:srgbClr val="182C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Próximas situações</a:t>
                      </a:r>
                    </a:p>
                  </a:txBody>
                  <a:tcPr marL="123825" marR="123825" marT="85725" marB="85725" anchor="ctr">
                    <a:solidFill>
                      <a:srgbClr val="182C28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Aberta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Em execução, aguardando peças ou cancelada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Em execução</a:t>
                      </a:r>
                    </a:p>
                  </a:txBody>
                  <a:tcPr marL="123825" marR="123825" marT="85725" marB="85725" anchor="ctr"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Aguardando peças, concluída ou cancelada</a:t>
                      </a:r>
                    </a:p>
                  </a:txBody>
                  <a:tcPr marL="123825" marR="123825" marT="85725" marB="85725" anchor="ctr">
                    <a:solidFill>
                      <a:srgbClr val="F5F6F2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Aguardando peças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Em execução ou cancelada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Concluída</a:t>
                      </a:r>
                    </a:p>
                  </a:txBody>
                  <a:tcPr marL="123825" marR="123825" marT="85725" marB="85725" anchor="ctr"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Entregue</a:t>
                      </a:r>
                    </a:p>
                  </a:txBody>
                  <a:tcPr marL="123825" marR="123825" marT="85725" marB="85725" anchor="ctr">
                    <a:solidFill>
                      <a:srgbClr val="F5F6F2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Entregue / Cancelada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Fluxo encerrado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o">
            <a:extLst xmlns:a="http://schemas.openxmlformats.org/drawingml/2006/main">
              <a:ext uri="{FF2B5EF4-FFF2-40B4-BE49-F238E27FC236}">
                <a16:creationId xmlns:a16="http://schemas.microsoft.com/office/drawing/2014/main" id="{DB3AAE4C-4175-4B5B-9CDA-F9F7F712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Ordens encerradas preservam os registros para consulta.</a:t>
            </a:r>
          </a:p>
        </p:txBody>
      </p:sp>
    </p:spTree>
    <p:extLst>
      <p:ext uri="{BB962C8B-B14F-4D97-AF65-F5344CB8AC3E}">
        <p14:creationId xmlns:p14="http://schemas.microsoft.com/office/powerpoint/2010/main" val="19957589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ulo">
            <a:extLst xmlns:a="http://schemas.openxmlformats.org/drawingml/2006/main">
              <a:ext uri="{FF2B5EF4-FFF2-40B4-BE49-F238E27FC236}">
                <a16:creationId xmlns:a16="http://schemas.microsoft.com/office/drawing/2014/main" id="{1B5BBB6B-F42B-4953-81B2-D3976AA7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Stack e arquitetura</a:t>
            </a:r>
          </a:p>
        </p:txBody>
      </p:sp>
      <p:sp>
        <p:nvSpPr>
          <p:cNvPr id="2" name="texto">
            <a:extLst xmlns:a="http://schemas.openxmlformats.org/drawingml/2006/main">
              <a:ext uri="{FF2B5EF4-FFF2-40B4-BE49-F238E27FC236}">
                <a16:creationId xmlns:a16="http://schemas.microsoft.com/office/drawing/2014/main" id="{7A1B79CB-803B-4A6F-B7D6-FCCB90BE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Torq Oficina  /  Grupo 04</a:t>
            </a:r>
          </a:p>
        </p:txBody>
      </p:sp>
      <p:sp>
        <p:nvSpPr>
          <p:cNvPr id="3" name="texto">
            <a:extLst xmlns:a="http://schemas.openxmlformats.org/drawingml/2006/main">
              <a:ext uri="{FF2B5EF4-FFF2-40B4-BE49-F238E27FC236}">
                <a16:creationId xmlns:a16="http://schemas.microsoft.com/office/drawing/2014/main" id="{4B54F5EC-A762-4B82-8C2A-A0845C53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texto">
            <a:extLst xmlns:a="http://schemas.openxmlformats.org/drawingml/2006/main">
              <a:ext uri="{FF2B5EF4-FFF2-40B4-BE49-F238E27FC236}">
                <a16:creationId xmlns:a16="http://schemas.microsoft.com/office/drawing/2014/main" id="{275B788B-EEC4-4D80-99A8-D5FAB57E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5" name="texto">
            <a:extLst xmlns:a="http://schemas.openxmlformats.org/drawingml/2006/main">
              <a:ext uri="{FF2B5EF4-FFF2-40B4-BE49-F238E27FC236}">
                <a16:creationId xmlns:a16="http://schemas.microsoft.com/office/drawing/2014/main" id="{72F875B0-D7A5-4B03-AD2F-B4889EC6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9053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HTML, CSS, JavaScript e SVG.</a:t>
            </a:r>
          </a:p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Navegação e formulários em</a:t>
            </a:r>
          </a:p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português.</a:t>
            </a:r>
          </a:p>
        </p:txBody>
      </p:sp>
      <p:sp>
        <p:nvSpPr>
          <p:cNvPr id="6" name="texto">
            <a:extLst xmlns:a="http://schemas.openxmlformats.org/drawingml/2006/main">
              <a:ext uri="{FF2B5EF4-FFF2-40B4-BE49-F238E27FC236}">
                <a16:creationId xmlns:a16="http://schemas.microsoft.com/office/drawing/2014/main" id="{EF2DE8FD-5063-4DD1-9BDA-31907E22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811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Servidor</a:t>
            </a:r>
          </a:p>
        </p:txBody>
      </p:sp>
      <p:sp>
        <p:nvSpPr>
          <p:cNvPr id="7" name="texto">
            <a:extLst xmlns:a="http://schemas.openxmlformats.org/drawingml/2006/main">
              <a:ext uri="{FF2B5EF4-FFF2-40B4-BE49-F238E27FC236}">
                <a16:creationId xmlns:a16="http://schemas.microsoft.com/office/drawing/2014/main" id="{14BA4995-BACF-4B31-8E50-8862B05E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5143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Java 17+ com API HTTP, validação,</a:t>
            </a:r>
          </a:p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autenticação e regras de negócio.</a:t>
            </a:r>
          </a:p>
        </p:txBody>
      </p:sp>
      <p:sp>
        <p:nvSpPr>
          <p:cNvPr id="8" name="texto">
            <a:extLst xmlns:a="http://schemas.openxmlformats.org/drawingml/2006/main">
              <a:ext uri="{FF2B5EF4-FFF2-40B4-BE49-F238E27FC236}">
                <a16:creationId xmlns:a16="http://schemas.microsoft.com/office/drawing/2014/main" id="{64CFEB4D-3BDB-4C4D-A607-2E1942D2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Banco</a:t>
            </a:r>
          </a:p>
        </p:txBody>
      </p:sp>
      <p:sp>
        <p:nvSpPr>
          <p:cNvPr id="9" name="texto">
            <a:extLst xmlns:a="http://schemas.openxmlformats.org/drawingml/2006/main">
              <a:ext uri="{FF2B5EF4-FFF2-40B4-BE49-F238E27FC236}">
                <a16:creationId xmlns:a16="http://schemas.microsoft.com/office/drawing/2014/main" id="{5B8F390C-EBE0-45E6-8666-0365597C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49053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MySQL e JDBC. 11 tabelas InnoDB com</a:t>
            </a:r>
          </a:p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chaves e relacionamentos.</a:t>
            </a:r>
          </a:p>
        </p:txBody>
      </p:sp>
      <p:sp>
        <p:nvSpPr>
          <p:cNvPr id="10" name="texto">
            <a:extLst xmlns:a="http://schemas.openxmlformats.org/drawingml/2006/main">
              <a:ext uri="{FF2B5EF4-FFF2-40B4-BE49-F238E27FC236}">
                <a16:creationId xmlns:a16="http://schemas.microsoft.com/office/drawing/2014/main" id="{B391CF62-68B4-4BF8-B3CC-E1AD95C8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957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Consistência</a:t>
            </a:r>
          </a:p>
        </p:txBody>
      </p:sp>
      <p:sp>
        <p:nvSpPr>
          <p:cNvPr id="11" name="texto">
            <a:extLst xmlns:a="http://schemas.openxmlformats.org/drawingml/2006/main">
              <a:ext uri="{FF2B5EF4-FFF2-40B4-BE49-F238E27FC236}">
                <a16:creationId xmlns:a16="http://schemas.microsoft.com/office/drawing/2014/main" id="{EC528768-4198-4BAE-8002-137251F5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14800"/>
            <a:ext cx="5143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Comandos parametrizados, transações</a:t>
            </a:r>
          </a:p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e bloqueios de linhas no consumo.</a:t>
            </a:r>
          </a:p>
        </p:txBody>
      </p:sp>
    </p:spTree>
    <p:extLst>
      <p:ext uri="{BB962C8B-B14F-4D97-AF65-F5344CB8AC3E}">
        <p14:creationId xmlns:p14="http://schemas.microsoft.com/office/powerpoint/2010/main" val="20843500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ulo">
            <a:extLst xmlns:a="http://schemas.openxmlformats.org/drawingml/2006/main">
              <a:ext uri="{FF2B5EF4-FFF2-40B4-BE49-F238E27FC236}">
                <a16:creationId xmlns:a16="http://schemas.microsoft.com/office/drawing/2014/main" id="{7E86BB5F-175E-46CF-A7A2-B128E76F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Banco de dados: cadastros e ordens</a:t>
            </a:r>
          </a:p>
        </p:txBody>
      </p:sp>
      <p:sp>
        <p:nvSpPr>
          <p:cNvPr id="2" name="texto">
            <a:extLst xmlns:a="http://schemas.openxmlformats.org/drawingml/2006/main">
              <a:ext uri="{FF2B5EF4-FFF2-40B4-BE49-F238E27FC236}">
                <a16:creationId xmlns:a16="http://schemas.microsoft.com/office/drawing/2014/main" id="{18A20A68-B00A-43A1-AD3E-385BDC30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Torq Oficina  /  Grupo 04</a:t>
            </a:r>
          </a:p>
        </p:txBody>
      </p:sp>
      <p:sp>
        <p:nvSpPr>
          <p:cNvPr id="3" name="texto">
            <a:extLst xmlns:a="http://schemas.openxmlformats.org/drawingml/2006/main">
              <a:ext uri="{FF2B5EF4-FFF2-40B4-BE49-F238E27FC236}">
                <a16:creationId xmlns:a16="http://schemas.microsoft.com/office/drawing/2014/main" id="{2AD5CCAF-9785-469D-98F1-5C0851A5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B5012-51CE-42E1-B949-E9BC6EF13E34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Tabela</a:t>
                      </a:r>
                    </a:p>
                  </a:txBody>
                  <a:tcPr marL="123825" marR="123825" marT="85725" marB="85725" anchor="ctr">
                    <a:solidFill>
                      <a:srgbClr val="182C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Dados e relacionamento</a:t>
                      </a:r>
                    </a:p>
                  </a:txBody>
                  <a:tcPr marL="123825" marR="123825" marT="85725" marB="85725" anchor="ctr">
                    <a:solidFill>
                      <a:srgbClr val="182C28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usuarios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Acesso, hash da senha, perfil e situação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clientes</a:t>
                      </a:r>
                    </a:p>
                  </a:txBody>
                  <a:tcPr marL="123825" marR="123825" marT="85725" marB="85725" anchor="ctr"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Identificação e contato. Cliente possui veículos</a:t>
                      </a:r>
                    </a:p>
                  </a:txBody>
                  <a:tcPr marL="123825" marR="123825" marT="85725" marB="85725" anchor="ctr">
                    <a:solidFill>
                      <a:srgbClr val="F5F6F2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veiculos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Placa única e cliente_id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servicos / pecas</a:t>
                      </a:r>
                    </a:p>
                  </a:txBody>
                  <a:tcPr marL="123825" marR="123825" marT="85725" marB="85725" anchor="ctr"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Catálogos, preços e saldos de peças</a:t>
                      </a:r>
                    </a:p>
                  </a:txBody>
                  <a:tcPr marL="123825" marR="123825" marT="85725" marB="85725" anchor="ctr">
                    <a:solidFill>
                      <a:srgbClr val="F5F6F2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ordens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veiculo_id, responsavel_id, relato e status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o">
            <a:extLst xmlns:a="http://schemas.openxmlformats.org/drawingml/2006/main">
              <a:ext uri="{FF2B5EF4-FFF2-40B4-BE49-F238E27FC236}">
                <a16:creationId xmlns:a16="http://schemas.microsoft.com/office/drawing/2014/main" id="{C573A135-F298-4ED6-B461-B9C80BDA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PK id em todas as tabelas. FK mantém os vínculos válidos.</a:t>
            </a:r>
          </a:p>
        </p:txBody>
      </p:sp>
    </p:spTree>
    <p:extLst>
      <p:ext uri="{BB962C8B-B14F-4D97-AF65-F5344CB8AC3E}">
        <p14:creationId xmlns:p14="http://schemas.microsoft.com/office/powerpoint/2010/main" val="1518821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ulo">
            <a:extLst xmlns:a="http://schemas.openxmlformats.org/drawingml/2006/main">
              <a:ext uri="{FF2B5EF4-FFF2-40B4-BE49-F238E27FC236}">
                <a16:creationId xmlns:a16="http://schemas.microsoft.com/office/drawing/2014/main" id="{789BC284-9AD8-4D64-8DC2-2DE667C1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Banco de dados: itens e rastreabilidade</a:t>
            </a:r>
          </a:p>
        </p:txBody>
      </p:sp>
      <p:sp>
        <p:nvSpPr>
          <p:cNvPr id="2" name="texto">
            <a:extLst xmlns:a="http://schemas.openxmlformats.org/drawingml/2006/main">
              <a:ext uri="{FF2B5EF4-FFF2-40B4-BE49-F238E27FC236}">
                <a16:creationId xmlns:a16="http://schemas.microsoft.com/office/drawing/2014/main" id="{5A6E2C47-91BD-4D0F-B15B-5230088E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Torq Oficina  /  Grupo 04</a:t>
            </a:r>
          </a:p>
        </p:txBody>
      </p:sp>
      <p:sp>
        <p:nvSpPr>
          <p:cNvPr id="3" name="texto">
            <a:extLst xmlns:a="http://schemas.openxmlformats.org/drawingml/2006/main">
              <a:ext uri="{FF2B5EF4-FFF2-40B4-BE49-F238E27FC236}">
                <a16:creationId xmlns:a16="http://schemas.microsoft.com/office/drawing/2014/main" id="{2DE88032-43B0-47D2-8113-02C2DA93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CDC9A-F365-46A7-8FA3-D247BB171FD4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Tabela</a:t>
                      </a:r>
                    </a:p>
                  </a:txBody>
                  <a:tcPr marL="123825" marR="123825" marT="85725" marB="85725" anchor="ctr">
                    <a:solidFill>
                      <a:srgbClr val="182C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Dados e relacionamento</a:t>
                      </a:r>
                    </a:p>
                  </a:txBody>
                  <a:tcPr marL="123825" marR="123825" marT="85725" marB="85725" anchor="ctr">
                    <a:solidFill>
                      <a:srgbClr val="182C28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ordem_servicos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ordem_id, servico_id, quantidade e preço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ordem_pecas</a:t>
                      </a:r>
                    </a:p>
                  </a:txBody>
                  <a:tcPr marL="123825" marR="123825" marT="85725" marB="85725" anchor="ctr"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ordem_id, peca_id, quantidade e preço</a:t>
                      </a:r>
                    </a:p>
                  </a:txBody>
                  <a:tcPr marL="123825" marR="123825" marT="85725" marB="85725" anchor="ctr">
                    <a:solidFill>
                      <a:srgbClr val="F5F6F2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movimentacoes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Peça, ordem opcional, autor, tipo e saldo após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historico_ordens</a:t>
                      </a:r>
                    </a:p>
                  </a:txBody>
                  <a:tcPr marL="123825" marR="123825" marT="85725" marB="85725" anchor="ctr"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Ordem, autor, evento e data</a:t>
                      </a:r>
                    </a:p>
                  </a:txBody>
                  <a:tcPr marL="123825" marR="123825" marT="85725" marB="85725" anchor="ctr">
                    <a:solidFill>
                      <a:srgbClr val="F5F6F2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auditoria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Usuário, ação e data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o">
            <a:extLst xmlns:a="http://schemas.openxmlformats.org/drawingml/2006/main">
              <a:ext uri="{FF2B5EF4-FFF2-40B4-BE49-F238E27FC236}">
                <a16:creationId xmlns:a16="http://schemas.microsoft.com/office/drawing/2014/main" id="{74EBAAB3-7672-4122-AF20-7AABE6C1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Valores monetários em DECIMAL(10,2).</a:t>
            </a:r>
          </a:p>
        </p:txBody>
      </p:sp>
    </p:spTree>
    <p:extLst>
      <p:ext uri="{BB962C8B-B14F-4D97-AF65-F5344CB8AC3E}">
        <p14:creationId xmlns:p14="http://schemas.microsoft.com/office/powerpoint/2010/main" val="11323504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ulo">
            <a:extLst xmlns:a="http://schemas.openxmlformats.org/drawingml/2006/main">
              <a:ext uri="{FF2B5EF4-FFF2-40B4-BE49-F238E27FC236}">
                <a16:creationId xmlns:a16="http://schemas.microsoft.com/office/drawing/2014/main" id="{43DED00E-AC6D-47B3-8E4C-1B7325B1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Acesso ao sistema</a:t>
            </a:r>
          </a:p>
        </p:txBody>
      </p:sp>
      <p:sp>
        <p:nvSpPr>
          <p:cNvPr id="2" name="texto">
            <a:extLst xmlns:a="http://schemas.openxmlformats.org/drawingml/2006/main">
              <a:ext uri="{FF2B5EF4-FFF2-40B4-BE49-F238E27FC236}">
                <a16:creationId xmlns:a16="http://schemas.microsoft.com/office/drawing/2014/main" id="{65D4338C-C10D-4515-97F3-DE0D8D97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Torq Oficina  /  Grupo 04</a:t>
            </a:r>
          </a:p>
        </p:txBody>
      </p:sp>
      <p:sp>
        <p:nvSpPr>
          <p:cNvPr id="3" name="texto">
            <a:extLst xmlns:a="http://schemas.openxmlformats.org/drawingml/2006/main">
              <a:ext uri="{FF2B5EF4-FFF2-40B4-BE49-F238E27FC236}">
                <a16:creationId xmlns:a16="http://schemas.microsoft.com/office/drawing/2014/main" id="{2A50F5DB-0395-4569-8E31-8260B38E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07972-25BE-4513-B7A0-1B9AA266E5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fff85f2e43a0"/>
          <a:stretch xmlns:a="http://schemas.openxmlformats.org/drawingml/2006/main"/>
        </p:blipFill>
        <p:spPr>
          <a:xfrm xmlns:a="http://schemas.openxmlformats.org/drawingml/2006/main">
            <a:off x="697230" y="1381125"/>
            <a:ext cx="7063740" cy="4905375"/>
          </a:xfrm>
          <a:prstGeom xmlns:a="http://schemas.openxmlformats.org/drawingml/2006/main" prst="rect">
            <a:avLst/>
          </a:prstGeom>
        </p:spPr>
      </p:pic>
      <p:sp>
        <p:nvSpPr>
          <p:cNvPr id="5" name="texto">
            <a:extLst xmlns:a="http://schemas.openxmlformats.org/drawingml/2006/main">
              <a:ext uri="{FF2B5EF4-FFF2-40B4-BE49-F238E27FC236}">
                <a16:creationId xmlns:a16="http://schemas.microsoft.com/office/drawing/2014/main" id="{5F4287F8-003E-475D-94FA-F9E8F8B7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28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Finalidade</a:t>
            </a:r>
          </a:p>
        </p:txBody>
      </p:sp>
      <p:sp>
        <p:nvSpPr>
          <p:cNvPr id="6" name="texto">
            <a:extLst xmlns:a="http://schemas.openxmlformats.org/drawingml/2006/main">
              <a:ext uri="{FF2B5EF4-FFF2-40B4-BE49-F238E27FC236}">
                <a16:creationId xmlns:a16="http://schemas.microsoft.com/office/drawing/2014/main" id="{C6AD747A-3E75-4C30-B049-EBF29D95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Autenticar um usuário ativo.</a:t>
            </a:r>
          </a:p>
        </p:txBody>
      </p:sp>
      <p:sp>
        <p:nvSpPr>
          <p:cNvPr id="7" name="texto">
            <a:extLst xmlns:a="http://schemas.openxmlformats.org/drawingml/2006/main">
              <a:ext uri="{FF2B5EF4-FFF2-40B4-BE49-F238E27FC236}">
                <a16:creationId xmlns:a16="http://schemas.microsoft.com/office/drawing/2014/main" id="{A04AC623-8746-4CB3-AD8F-7514A005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98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Usuário</a:t>
            </a:r>
          </a:p>
        </p:txBody>
      </p:sp>
      <p:sp>
        <p:nvSpPr>
          <p:cNvPr id="8" name="texto">
            <a:extLst xmlns:a="http://schemas.openxmlformats.org/drawingml/2006/main">
              <a:ext uri="{FF2B5EF4-FFF2-40B4-BE49-F238E27FC236}">
                <a16:creationId xmlns:a16="http://schemas.microsoft.com/office/drawing/2014/main" id="{8405EF49-7692-4FC8-A64A-4BEAC4C1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337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Administrador, atendente e mecânico.</a:t>
            </a:r>
          </a:p>
        </p:txBody>
      </p:sp>
      <p:sp>
        <p:nvSpPr>
          <p:cNvPr id="9" name="texto">
            <a:extLst xmlns:a="http://schemas.openxmlformats.org/drawingml/2006/main">
              <a:ext uri="{FF2B5EF4-FFF2-40B4-BE49-F238E27FC236}">
                <a16:creationId xmlns:a16="http://schemas.microsoft.com/office/drawing/2014/main" id="{8EB21716-480B-452D-B3FA-17B62752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Dados e ações</a:t>
            </a:r>
          </a:p>
        </p:txBody>
      </p:sp>
      <p:sp>
        <p:nvSpPr>
          <p:cNvPr id="10" name="texto">
            <a:extLst xmlns:a="http://schemas.openxmlformats.org/drawingml/2006/main">
              <a:ext uri="{FF2B5EF4-FFF2-40B4-BE49-F238E27FC236}">
                <a16:creationId xmlns:a16="http://schemas.microsoft.com/office/drawing/2014/main" id="{AC2DDAB0-7B6C-4DAC-8934-1ADEC2E5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148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E-mail, senha e mensagem de erro. Entrar.</a:t>
            </a:r>
          </a:p>
        </p:txBody>
      </p:sp>
      <p:sp>
        <p:nvSpPr>
          <p:cNvPr id="11" name="texto">
            <a:extLst xmlns:a="http://schemas.openxmlformats.org/drawingml/2006/main">
              <a:ext uri="{FF2B5EF4-FFF2-40B4-BE49-F238E27FC236}">
                <a16:creationId xmlns:a16="http://schemas.microsoft.com/office/drawing/2014/main" id="{BD2EBD35-88E5-4945-898D-C2CBB7B8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7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12" name="texto">
            <a:extLst xmlns:a="http://schemas.openxmlformats.org/drawingml/2006/main">
              <a:ext uri="{FF2B5EF4-FFF2-40B4-BE49-F238E27FC236}">
                <a16:creationId xmlns:a16="http://schemas.microsoft.com/office/drawing/2014/main" id="{05700B8E-A070-4B7A-B88F-F84379D7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959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Sessão libera o painel e define permissões.</a:t>
            </a:r>
          </a:p>
        </p:txBody>
      </p:sp>
    </p:spTree>
    <p:extLst>
      <p:ext uri="{BB962C8B-B14F-4D97-AF65-F5344CB8AC3E}">
        <p14:creationId xmlns:p14="http://schemas.microsoft.com/office/powerpoint/2010/main" val="11947578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ulo">
            <a:extLst xmlns:a="http://schemas.openxmlformats.org/drawingml/2006/main">
              <a:ext uri="{FF2B5EF4-FFF2-40B4-BE49-F238E27FC236}">
                <a16:creationId xmlns:a16="http://schemas.microsoft.com/office/drawing/2014/main" id="{EE5D720B-71E8-4903-B98A-315481F0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Painel da oficina</a:t>
            </a:r>
          </a:p>
        </p:txBody>
      </p:sp>
      <p:sp>
        <p:nvSpPr>
          <p:cNvPr id="2" name="texto">
            <a:extLst xmlns:a="http://schemas.openxmlformats.org/drawingml/2006/main">
              <a:ext uri="{FF2B5EF4-FFF2-40B4-BE49-F238E27FC236}">
                <a16:creationId xmlns:a16="http://schemas.microsoft.com/office/drawing/2014/main" id="{08A8FC9F-8979-4B13-A8CA-C3100CDF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Torq Oficina  /  Grupo 04</a:t>
            </a:r>
          </a:p>
        </p:txBody>
      </p:sp>
      <p:sp>
        <p:nvSpPr>
          <p:cNvPr id="3" name="texto">
            <a:extLst xmlns:a="http://schemas.openxmlformats.org/drawingml/2006/main">
              <a:ext uri="{FF2B5EF4-FFF2-40B4-BE49-F238E27FC236}">
                <a16:creationId xmlns:a16="http://schemas.microsoft.com/office/drawing/2014/main" id="{D3B0A4F1-24FE-4EC4-9C79-B08F9E35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24C74-8059-41F8-B1FC-05ECA55E41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348eabcc54665"/>
          <a:stretch xmlns:a="http://schemas.openxmlformats.org/drawingml/2006/main"/>
        </p:blipFill>
        <p:spPr>
          <a:xfrm xmlns:a="http://schemas.openxmlformats.org/drawingml/2006/main">
            <a:off x="697230" y="1381125"/>
            <a:ext cx="7063740" cy="4905375"/>
          </a:xfrm>
          <a:prstGeom xmlns:a="http://schemas.openxmlformats.org/drawingml/2006/main" prst="rect">
            <a:avLst/>
          </a:prstGeom>
        </p:spPr>
      </p:pic>
      <p:sp>
        <p:nvSpPr>
          <p:cNvPr id="5" name="texto">
            <a:extLst xmlns:a="http://schemas.openxmlformats.org/drawingml/2006/main">
              <a:ext uri="{FF2B5EF4-FFF2-40B4-BE49-F238E27FC236}">
                <a16:creationId xmlns:a16="http://schemas.microsoft.com/office/drawing/2014/main" id="{BEFB0E9F-DDF4-4855-8A13-65310C1D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28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Finalidade</a:t>
            </a:r>
          </a:p>
        </p:txBody>
      </p:sp>
      <p:sp>
        <p:nvSpPr>
          <p:cNvPr id="6" name="texto">
            <a:extLst xmlns:a="http://schemas.openxmlformats.org/drawingml/2006/main">
              <a:ext uri="{FF2B5EF4-FFF2-40B4-BE49-F238E27FC236}">
                <a16:creationId xmlns:a16="http://schemas.microsoft.com/office/drawing/2014/main" id="{86C04C95-B82A-4E6F-B89D-4DAD1D19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Acompanhar os atendimentos.</a:t>
            </a:r>
          </a:p>
        </p:txBody>
      </p:sp>
      <p:sp>
        <p:nvSpPr>
          <p:cNvPr id="7" name="texto">
            <a:extLst xmlns:a="http://schemas.openxmlformats.org/drawingml/2006/main">
              <a:ext uri="{FF2B5EF4-FFF2-40B4-BE49-F238E27FC236}">
                <a16:creationId xmlns:a16="http://schemas.microsoft.com/office/drawing/2014/main" id="{6CD49B05-E777-44D5-8F61-25FDBBBF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98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Usuário</a:t>
            </a:r>
          </a:p>
        </p:txBody>
      </p:sp>
      <p:sp>
        <p:nvSpPr>
          <p:cNvPr id="8" name="texto">
            <a:extLst xmlns:a="http://schemas.openxmlformats.org/drawingml/2006/main">
              <a:ext uri="{FF2B5EF4-FFF2-40B4-BE49-F238E27FC236}">
                <a16:creationId xmlns:a16="http://schemas.microsoft.com/office/drawing/2014/main" id="{493B1E9C-240C-4044-8607-F196DFEB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337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Todos os perfis.</a:t>
            </a:r>
          </a:p>
        </p:txBody>
      </p:sp>
      <p:sp>
        <p:nvSpPr>
          <p:cNvPr id="9" name="texto">
            <a:extLst xmlns:a="http://schemas.openxmlformats.org/drawingml/2006/main">
              <a:ext uri="{FF2B5EF4-FFF2-40B4-BE49-F238E27FC236}">
                <a16:creationId xmlns:a16="http://schemas.microsoft.com/office/drawing/2014/main" id="{307BC322-EA37-4C07-A71F-31712DDD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Dados e ações</a:t>
            </a:r>
          </a:p>
        </p:txBody>
      </p:sp>
      <p:sp>
        <p:nvSpPr>
          <p:cNvPr id="10" name="texto">
            <a:extLst xmlns:a="http://schemas.openxmlformats.org/drawingml/2006/main">
              <a:ext uri="{FF2B5EF4-FFF2-40B4-BE49-F238E27FC236}">
                <a16:creationId xmlns:a16="http://schemas.microsoft.com/office/drawing/2014/main" id="{EABF7FBA-51E5-4D9A-B30F-9443E99F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148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Veículos ativos, status e alertas. Abrir uma ordem.</a:t>
            </a:r>
          </a:p>
        </p:txBody>
      </p:sp>
      <p:sp>
        <p:nvSpPr>
          <p:cNvPr id="11" name="texto">
            <a:extLst xmlns:a="http://schemas.openxmlformats.org/drawingml/2006/main">
              <a:ext uri="{FF2B5EF4-FFF2-40B4-BE49-F238E27FC236}">
                <a16:creationId xmlns:a16="http://schemas.microsoft.com/office/drawing/2014/main" id="{810AE814-1DA4-405A-B652-46B197CA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7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12" name="texto">
            <a:extLst xmlns:a="http://schemas.openxmlformats.org/drawingml/2006/main">
              <a:ext uri="{FF2B5EF4-FFF2-40B4-BE49-F238E27FC236}">
                <a16:creationId xmlns:a16="http://schemas.microsoft.com/office/drawing/2014/main" id="{5ED68834-E3B4-4A56-8D8F-E628EE3A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959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Nova ordem e acesso ao estoque.</a:t>
            </a:r>
          </a:p>
        </p:txBody>
      </p:sp>
    </p:spTree>
    <p:extLst>
      <p:ext uri="{BB962C8B-B14F-4D97-AF65-F5344CB8AC3E}">
        <p14:creationId xmlns:p14="http://schemas.microsoft.com/office/powerpoint/2010/main" val="245266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ulo">
            <a:extLst xmlns:a="http://schemas.openxmlformats.org/drawingml/2006/main">
              <a:ext uri="{FF2B5EF4-FFF2-40B4-BE49-F238E27FC236}">
                <a16:creationId xmlns:a16="http://schemas.microsoft.com/office/drawing/2014/main" id="{EDF1837F-9202-4C3C-959D-0C7E052F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Cadastro de clientes</a:t>
            </a:r>
          </a:p>
        </p:txBody>
      </p:sp>
      <p:sp>
        <p:nvSpPr>
          <p:cNvPr id="2" name="texto">
            <a:extLst xmlns:a="http://schemas.openxmlformats.org/drawingml/2006/main">
              <a:ext uri="{FF2B5EF4-FFF2-40B4-BE49-F238E27FC236}">
                <a16:creationId xmlns:a16="http://schemas.microsoft.com/office/drawing/2014/main" id="{E7EA3F46-6FDB-4396-8F66-CA4CA59C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Torq Oficina  /  Grupo 04</a:t>
            </a:r>
          </a:p>
        </p:txBody>
      </p:sp>
      <p:sp>
        <p:nvSpPr>
          <p:cNvPr id="3" name="texto">
            <a:extLst xmlns:a="http://schemas.openxmlformats.org/drawingml/2006/main">
              <a:ext uri="{FF2B5EF4-FFF2-40B4-BE49-F238E27FC236}">
                <a16:creationId xmlns:a16="http://schemas.microsoft.com/office/drawing/2014/main" id="{5F392898-3075-4294-87C5-BFE54EF3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C2D99-07F6-4BAF-A309-AEE2B6FCC7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4c31535004191"/>
          <a:stretch xmlns:a="http://schemas.openxmlformats.org/drawingml/2006/main"/>
        </p:blipFill>
        <p:spPr>
          <a:xfrm xmlns:a="http://schemas.openxmlformats.org/drawingml/2006/main">
            <a:off x="697230" y="1381125"/>
            <a:ext cx="7063740" cy="4905375"/>
          </a:xfrm>
          <a:prstGeom xmlns:a="http://schemas.openxmlformats.org/drawingml/2006/main" prst="rect">
            <a:avLst/>
          </a:prstGeom>
        </p:spPr>
      </p:pic>
      <p:sp>
        <p:nvSpPr>
          <p:cNvPr id="5" name="texto">
            <a:extLst xmlns:a="http://schemas.openxmlformats.org/drawingml/2006/main">
              <a:ext uri="{FF2B5EF4-FFF2-40B4-BE49-F238E27FC236}">
                <a16:creationId xmlns:a16="http://schemas.microsoft.com/office/drawing/2014/main" id="{E247A4D6-D69B-449C-B47D-A9FAAA63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28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Finalidade</a:t>
            </a:r>
          </a:p>
        </p:txBody>
      </p:sp>
      <p:sp>
        <p:nvSpPr>
          <p:cNvPr id="6" name="texto">
            <a:extLst xmlns:a="http://schemas.openxmlformats.org/drawingml/2006/main">
              <a:ext uri="{FF2B5EF4-FFF2-40B4-BE49-F238E27FC236}">
                <a16:creationId xmlns:a16="http://schemas.microsoft.com/office/drawing/2014/main" id="{8F5D2BD2-7875-4E23-831D-1557F841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Organizar os contatos.</a:t>
            </a:r>
          </a:p>
        </p:txBody>
      </p:sp>
      <p:sp>
        <p:nvSpPr>
          <p:cNvPr id="7" name="texto">
            <a:extLst xmlns:a="http://schemas.openxmlformats.org/drawingml/2006/main">
              <a:ext uri="{FF2B5EF4-FFF2-40B4-BE49-F238E27FC236}">
                <a16:creationId xmlns:a16="http://schemas.microsoft.com/office/drawing/2014/main" id="{0F914041-5A79-4185-83D4-37B4397E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98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Usuário</a:t>
            </a:r>
          </a:p>
        </p:txBody>
      </p:sp>
      <p:sp>
        <p:nvSpPr>
          <p:cNvPr id="8" name="texto">
            <a:extLst xmlns:a="http://schemas.openxmlformats.org/drawingml/2006/main">
              <a:ext uri="{FF2B5EF4-FFF2-40B4-BE49-F238E27FC236}">
                <a16:creationId xmlns:a16="http://schemas.microsoft.com/office/drawing/2014/main" id="{50C929E4-6D88-40A3-9C82-48E8995C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337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Administrador e atendente.</a:t>
            </a:r>
          </a:p>
        </p:txBody>
      </p:sp>
      <p:sp>
        <p:nvSpPr>
          <p:cNvPr id="9" name="texto">
            <a:extLst xmlns:a="http://schemas.openxmlformats.org/drawingml/2006/main">
              <a:ext uri="{FF2B5EF4-FFF2-40B4-BE49-F238E27FC236}">
                <a16:creationId xmlns:a16="http://schemas.microsoft.com/office/drawing/2014/main" id="{48DD6CA6-4B83-4DCF-BCE2-8E8A9EB5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Dados e ações</a:t>
            </a:r>
          </a:p>
        </p:txBody>
      </p:sp>
      <p:sp>
        <p:nvSpPr>
          <p:cNvPr id="10" name="texto">
            <a:extLst xmlns:a="http://schemas.openxmlformats.org/drawingml/2006/main">
              <a:ext uri="{FF2B5EF4-FFF2-40B4-BE49-F238E27FC236}">
                <a16:creationId xmlns:a16="http://schemas.microsoft.com/office/drawing/2014/main" id="{230B29F0-52B2-4535-AF72-01D03007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148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Nome, documento e contato. Buscar, cadastrar e editar.</a:t>
            </a:r>
          </a:p>
        </p:txBody>
      </p:sp>
      <p:sp>
        <p:nvSpPr>
          <p:cNvPr id="11" name="texto">
            <a:extLst xmlns:a="http://schemas.openxmlformats.org/drawingml/2006/main">
              <a:ext uri="{FF2B5EF4-FFF2-40B4-BE49-F238E27FC236}">
                <a16:creationId xmlns:a16="http://schemas.microsoft.com/office/drawing/2014/main" id="{703461EB-B800-49AB-BBBF-A307AD51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7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12" name="texto">
            <a:extLst xmlns:a="http://schemas.openxmlformats.org/drawingml/2006/main">
              <a:ext uri="{FF2B5EF4-FFF2-40B4-BE49-F238E27FC236}">
                <a16:creationId xmlns:a16="http://schemas.microsoft.com/office/drawing/2014/main" id="{AB989AB6-D55C-4DD3-BCE7-C36E540A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959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Cliente vinculado ao veículo.</a:t>
            </a:r>
          </a:p>
        </p:txBody>
      </p:sp>
    </p:spTree>
    <p:extLst>
      <p:ext uri="{BB962C8B-B14F-4D97-AF65-F5344CB8AC3E}">
        <p14:creationId xmlns:p14="http://schemas.microsoft.com/office/powerpoint/2010/main" val="9783462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ulo">
            <a:extLst xmlns:a="http://schemas.openxmlformats.org/drawingml/2006/main">
              <a:ext uri="{FF2B5EF4-FFF2-40B4-BE49-F238E27FC236}">
                <a16:creationId xmlns:a16="http://schemas.microsoft.com/office/drawing/2014/main" id="{4BA164A1-C48A-42FE-B519-0958AFCB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Cadastro de veículos</a:t>
            </a:r>
          </a:p>
        </p:txBody>
      </p:sp>
      <p:sp>
        <p:nvSpPr>
          <p:cNvPr id="2" name="texto">
            <a:extLst xmlns:a="http://schemas.openxmlformats.org/drawingml/2006/main">
              <a:ext uri="{FF2B5EF4-FFF2-40B4-BE49-F238E27FC236}">
                <a16:creationId xmlns:a16="http://schemas.microsoft.com/office/drawing/2014/main" id="{B3E4A578-90D5-408D-BEF5-4FA6879E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Torq Oficina  /  Grupo 04</a:t>
            </a:r>
          </a:p>
        </p:txBody>
      </p:sp>
      <p:sp>
        <p:nvSpPr>
          <p:cNvPr id="3" name="texto">
            <a:extLst xmlns:a="http://schemas.openxmlformats.org/drawingml/2006/main">
              <a:ext uri="{FF2B5EF4-FFF2-40B4-BE49-F238E27FC236}">
                <a16:creationId xmlns:a16="http://schemas.microsoft.com/office/drawing/2014/main" id="{3AAFED33-747B-4217-9FCC-237F4897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B5E66-8A0A-4FFA-B811-EF1CB17EDA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73d89ad5a4c94"/>
          <a:stretch xmlns:a="http://schemas.openxmlformats.org/drawingml/2006/main"/>
        </p:blipFill>
        <p:spPr>
          <a:xfrm xmlns:a="http://schemas.openxmlformats.org/drawingml/2006/main">
            <a:off x="697230" y="1381125"/>
            <a:ext cx="7063740" cy="4905375"/>
          </a:xfrm>
          <a:prstGeom xmlns:a="http://schemas.openxmlformats.org/drawingml/2006/main" prst="rect">
            <a:avLst/>
          </a:prstGeom>
        </p:spPr>
      </p:pic>
      <p:sp>
        <p:nvSpPr>
          <p:cNvPr id="5" name="texto">
            <a:extLst xmlns:a="http://schemas.openxmlformats.org/drawingml/2006/main">
              <a:ext uri="{FF2B5EF4-FFF2-40B4-BE49-F238E27FC236}">
                <a16:creationId xmlns:a16="http://schemas.microsoft.com/office/drawing/2014/main" id="{F0B055B5-9180-4190-A7EC-EAD1BA4F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28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Finalidade</a:t>
            </a:r>
          </a:p>
        </p:txBody>
      </p:sp>
      <p:sp>
        <p:nvSpPr>
          <p:cNvPr id="6" name="texto">
            <a:extLst xmlns:a="http://schemas.openxmlformats.org/drawingml/2006/main">
              <a:ext uri="{FF2B5EF4-FFF2-40B4-BE49-F238E27FC236}">
                <a16:creationId xmlns:a16="http://schemas.microsoft.com/office/drawing/2014/main" id="{AB2194F5-1964-4806-B941-5B4D5D81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Identificar o veículo atendido.</a:t>
            </a:r>
          </a:p>
        </p:txBody>
      </p:sp>
      <p:sp>
        <p:nvSpPr>
          <p:cNvPr id="7" name="texto">
            <a:extLst xmlns:a="http://schemas.openxmlformats.org/drawingml/2006/main">
              <a:ext uri="{FF2B5EF4-FFF2-40B4-BE49-F238E27FC236}">
                <a16:creationId xmlns:a16="http://schemas.microsoft.com/office/drawing/2014/main" id="{A1F9E17F-9881-4A20-87B1-B8A47802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98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Usuário</a:t>
            </a:r>
          </a:p>
        </p:txBody>
      </p:sp>
      <p:sp>
        <p:nvSpPr>
          <p:cNvPr id="8" name="texto">
            <a:extLst xmlns:a="http://schemas.openxmlformats.org/drawingml/2006/main">
              <a:ext uri="{FF2B5EF4-FFF2-40B4-BE49-F238E27FC236}">
                <a16:creationId xmlns:a16="http://schemas.microsoft.com/office/drawing/2014/main" id="{C4A21BDB-0123-40B5-A4A5-6FCBB247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337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Administrador e atendente.</a:t>
            </a:r>
          </a:p>
        </p:txBody>
      </p:sp>
      <p:sp>
        <p:nvSpPr>
          <p:cNvPr id="9" name="texto">
            <a:extLst xmlns:a="http://schemas.openxmlformats.org/drawingml/2006/main">
              <a:ext uri="{FF2B5EF4-FFF2-40B4-BE49-F238E27FC236}">
                <a16:creationId xmlns:a16="http://schemas.microsoft.com/office/drawing/2014/main" id="{60157A5F-09FF-4232-9654-E8EB414E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Dados e ações</a:t>
            </a:r>
          </a:p>
        </p:txBody>
      </p:sp>
      <p:sp>
        <p:nvSpPr>
          <p:cNvPr id="10" name="texto">
            <a:extLst xmlns:a="http://schemas.openxmlformats.org/drawingml/2006/main">
              <a:ext uri="{FF2B5EF4-FFF2-40B4-BE49-F238E27FC236}">
                <a16:creationId xmlns:a16="http://schemas.microsoft.com/office/drawing/2014/main" id="{20B2C5AA-4D5A-4158-A85A-2041E470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148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Placa, modelo, cliente, ano e km. Cadastrar e editar.</a:t>
            </a:r>
          </a:p>
        </p:txBody>
      </p:sp>
      <p:sp>
        <p:nvSpPr>
          <p:cNvPr id="11" name="texto">
            <a:extLst xmlns:a="http://schemas.openxmlformats.org/drawingml/2006/main">
              <a:ext uri="{FF2B5EF4-FFF2-40B4-BE49-F238E27FC236}">
                <a16:creationId xmlns:a16="http://schemas.microsoft.com/office/drawing/2014/main" id="{F9899E97-3F3D-487E-8F5A-B4C7B24C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7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12" name="texto">
            <a:extLst xmlns:a="http://schemas.openxmlformats.org/drawingml/2006/main">
              <a:ext uri="{FF2B5EF4-FFF2-40B4-BE49-F238E27FC236}">
                <a16:creationId xmlns:a16="http://schemas.microsoft.com/office/drawing/2014/main" id="{97F4E839-A294-4CAD-AEF0-E47FD21B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959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Veículo disponível entra na ordem.</a:t>
            </a:r>
          </a:p>
        </p:txBody>
      </p:sp>
    </p:spTree>
    <p:extLst>
      <p:ext uri="{BB962C8B-B14F-4D97-AF65-F5344CB8AC3E}">
        <p14:creationId xmlns:p14="http://schemas.microsoft.com/office/powerpoint/2010/main" val="18370886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ulo">
            <a:extLst xmlns:a="http://schemas.openxmlformats.org/drawingml/2006/main">
              <a:ext uri="{FF2B5EF4-FFF2-40B4-BE49-F238E27FC236}">
                <a16:creationId xmlns:a16="http://schemas.microsoft.com/office/drawing/2014/main" id="{6EAE0105-A25D-4AFF-B7C8-FCE24A81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Catálogo de serviços</a:t>
            </a:r>
          </a:p>
        </p:txBody>
      </p:sp>
      <p:sp>
        <p:nvSpPr>
          <p:cNvPr id="2" name="texto">
            <a:extLst xmlns:a="http://schemas.openxmlformats.org/drawingml/2006/main">
              <a:ext uri="{FF2B5EF4-FFF2-40B4-BE49-F238E27FC236}">
                <a16:creationId xmlns:a16="http://schemas.microsoft.com/office/drawing/2014/main" id="{2FFE76EC-5E67-4A1E-A5F7-BD865ED9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Torq Oficina  /  Grupo 04</a:t>
            </a:r>
          </a:p>
        </p:txBody>
      </p:sp>
      <p:sp>
        <p:nvSpPr>
          <p:cNvPr id="3" name="texto">
            <a:extLst xmlns:a="http://schemas.openxmlformats.org/drawingml/2006/main">
              <a:ext uri="{FF2B5EF4-FFF2-40B4-BE49-F238E27FC236}">
                <a16:creationId xmlns:a16="http://schemas.microsoft.com/office/drawing/2014/main" id="{95401180-315C-47A0-B369-2A5494B7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21B09-E7A6-4AB7-83C8-05C2F33316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7bfff14384455"/>
          <a:stretch xmlns:a="http://schemas.openxmlformats.org/drawingml/2006/main"/>
        </p:blipFill>
        <p:spPr>
          <a:xfrm xmlns:a="http://schemas.openxmlformats.org/drawingml/2006/main">
            <a:off x="697230" y="1381125"/>
            <a:ext cx="7063740" cy="4905375"/>
          </a:xfrm>
          <a:prstGeom xmlns:a="http://schemas.openxmlformats.org/drawingml/2006/main" prst="rect">
            <a:avLst/>
          </a:prstGeom>
        </p:spPr>
      </p:pic>
      <p:sp>
        <p:nvSpPr>
          <p:cNvPr id="5" name="texto">
            <a:extLst xmlns:a="http://schemas.openxmlformats.org/drawingml/2006/main">
              <a:ext uri="{FF2B5EF4-FFF2-40B4-BE49-F238E27FC236}">
                <a16:creationId xmlns:a16="http://schemas.microsoft.com/office/drawing/2014/main" id="{FB7FCC6F-9D6A-4A02-B790-A5E297D5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28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Finalidade</a:t>
            </a:r>
          </a:p>
        </p:txBody>
      </p:sp>
      <p:sp>
        <p:nvSpPr>
          <p:cNvPr id="6" name="texto">
            <a:extLst xmlns:a="http://schemas.openxmlformats.org/drawingml/2006/main">
              <a:ext uri="{FF2B5EF4-FFF2-40B4-BE49-F238E27FC236}">
                <a16:creationId xmlns:a16="http://schemas.microsoft.com/office/drawing/2014/main" id="{4C983670-349F-4995-A243-70BFF3B0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Manter a referência de mão de obra.</a:t>
            </a:r>
          </a:p>
        </p:txBody>
      </p:sp>
      <p:sp>
        <p:nvSpPr>
          <p:cNvPr id="7" name="texto">
            <a:extLst xmlns:a="http://schemas.openxmlformats.org/drawingml/2006/main">
              <a:ext uri="{FF2B5EF4-FFF2-40B4-BE49-F238E27FC236}">
                <a16:creationId xmlns:a16="http://schemas.microsoft.com/office/drawing/2014/main" id="{D810AB0A-B710-4A1D-A2E6-7648A2EA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98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Usuário</a:t>
            </a:r>
          </a:p>
        </p:txBody>
      </p:sp>
      <p:sp>
        <p:nvSpPr>
          <p:cNvPr id="8" name="texto">
            <a:extLst xmlns:a="http://schemas.openxmlformats.org/drawingml/2006/main">
              <a:ext uri="{FF2B5EF4-FFF2-40B4-BE49-F238E27FC236}">
                <a16:creationId xmlns:a16="http://schemas.microsoft.com/office/drawing/2014/main" id="{C00F4C4B-107F-414B-92C3-4011E380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337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Todos consultam. Admin altera.</a:t>
            </a:r>
          </a:p>
        </p:txBody>
      </p:sp>
      <p:sp>
        <p:nvSpPr>
          <p:cNvPr id="9" name="texto">
            <a:extLst xmlns:a="http://schemas.openxmlformats.org/drawingml/2006/main">
              <a:ext uri="{FF2B5EF4-FFF2-40B4-BE49-F238E27FC236}">
                <a16:creationId xmlns:a16="http://schemas.microsoft.com/office/drawing/2014/main" id="{4AEBE4C5-A7C9-4DA9-9FEE-BE2184AF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Dados e ações</a:t>
            </a:r>
          </a:p>
        </p:txBody>
      </p:sp>
      <p:sp>
        <p:nvSpPr>
          <p:cNvPr id="10" name="texto">
            <a:extLst xmlns:a="http://schemas.openxmlformats.org/drawingml/2006/main">
              <a:ext uri="{FF2B5EF4-FFF2-40B4-BE49-F238E27FC236}">
                <a16:creationId xmlns:a16="http://schemas.microsoft.com/office/drawing/2014/main" id="{88DB4356-63D0-49CC-9435-7B991B55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148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Nome, descrição e preço. Buscar, cadastrar e editar.</a:t>
            </a:r>
          </a:p>
        </p:txBody>
      </p:sp>
      <p:sp>
        <p:nvSpPr>
          <p:cNvPr id="11" name="texto">
            <a:extLst xmlns:a="http://schemas.openxmlformats.org/drawingml/2006/main">
              <a:ext uri="{FF2B5EF4-FFF2-40B4-BE49-F238E27FC236}">
                <a16:creationId xmlns:a16="http://schemas.microsoft.com/office/drawing/2014/main" id="{7746631C-93D6-4BFD-B1E3-E7C634EA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7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12" name="texto">
            <a:extLst xmlns:a="http://schemas.openxmlformats.org/drawingml/2006/main">
              <a:ext uri="{FF2B5EF4-FFF2-40B4-BE49-F238E27FC236}">
                <a16:creationId xmlns:a16="http://schemas.microsoft.com/office/drawing/2014/main" id="{0B118FCB-629F-47D2-8827-3A4B3B02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959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Preço registrado ao incluir o serviço na ordem.</a:t>
            </a:r>
          </a:p>
        </p:txBody>
      </p:sp>
    </p:spTree>
    <p:extLst>
      <p:ext uri="{BB962C8B-B14F-4D97-AF65-F5344CB8AC3E}">
        <p14:creationId xmlns:p14="http://schemas.microsoft.com/office/powerpoint/2010/main" val="2900773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ulo">
            <a:extLst xmlns:a="http://schemas.openxmlformats.org/drawingml/2006/main">
              <a:ext uri="{FF2B5EF4-FFF2-40B4-BE49-F238E27FC236}">
                <a16:creationId xmlns:a16="http://schemas.microsoft.com/office/drawing/2014/main" id="{D232BDB2-3CF4-44FB-9D98-C0E08C1F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Consulta de ordens</a:t>
            </a:r>
          </a:p>
        </p:txBody>
      </p:sp>
      <p:sp>
        <p:nvSpPr>
          <p:cNvPr id="2" name="texto">
            <a:extLst xmlns:a="http://schemas.openxmlformats.org/drawingml/2006/main">
              <a:ext uri="{FF2B5EF4-FFF2-40B4-BE49-F238E27FC236}">
                <a16:creationId xmlns:a16="http://schemas.microsoft.com/office/drawing/2014/main" id="{B271D888-6443-4A25-A105-AA46D995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Torq Oficina  /  Grupo 04</a:t>
            </a:r>
          </a:p>
        </p:txBody>
      </p:sp>
      <p:sp>
        <p:nvSpPr>
          <p:cNvPr id="3" name="texto">
            <a:extLst xmlns:a="http://schemas.openxmlformats.org/drawingml/2006/main">
              <a:ext uri="{FF2B5EF4-FFF2-40B4-BE49-F238E27FC236}">
                <a16:creationId xmlns:a16="http://schemas.microsoft.com/office/drawing/2014/main" id="{42128E23-EC6C-4B2F-9681-2B240BE2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C6929-6B29-4A04-B00E-F1EF2FF0BA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09d58d0e74612"/>
          <a:stretch xmlns:a="http://schemas.openxmlformats.org/drawingml/2006/main"/>
        </p:blipFill>
        <p:spPr>
          <a:xfrm xmlns:a="http://schemas.openxmlformats.org/drawingml/2006/main">
            <a:off x="697230" y="1381125"/>
            <a:ext cx="7063740" cy="4905375"/>
          </a:xfrm>
          <a:prstGeom xmlns:a="http://schemas.openxmlformats.org/drawingml/2006/main" prst="rect">
            <a:avLst/>
          </a:prstGeom>
        </p:spPr>
      </p:pic>
      <p:sp>
        <p:nvSpPr>
          <p:cNvPr id="5" name="texto">
            <a:extLst xmlns:a="http://schemas.openxmlformats.org/drawingml/2006/main">
              <a:ext uri="{FF2B5EF4-FFF2-40B4-BE49-F238E27FC236}">
                <a16:creationId xmlns:a16="http://schemas.microsoft.com/office/drawing/2014/main" id="{73072D88-0C34-4BBD-868A-88A27A6D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28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Finalidade</a:t>
            </a:r>
          </a:p>
        </p:txBody>
      </p:sp>
      <p:sp>
        <p:nvSpPr>
          <p:cNvPr id="6" name="texto">
            <a:extLst xmlns:a="http://schemas.openxmlformats.org/drawingml/2006/main">
              <a:ext uri="{FF2B5EF4-FFF2-40B4-BE49-F238E27FC236}">
                <a16:creationId xmlns:a16="http://schemas.microsoft.com/office/drawing/2014/main" id="{F120083B-0622-4F75-AE0F-197B23C1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Localizar e acompanhar reparos.</a:t>
            </a:r>
          </a:p>
        </p:txBody>
      </p:sp>
      <p:sp>
        <p:nvSpPr>
          <p:cNvPr id="7" name="texto">
            <a:extLst xmlns:a="http://schemas.openxmlformats.org/drawingml/2006/main">
              <a:ext uri="{FF2B5EF4-FFF2-40B4-BE49-F238E27FC236}">
                <a16:creationId xmlns:a16="http://schemas.microsoft.com/office/drawing/2014/main" id="{FCFE0212-6162-4809-BFA1-4EF237B9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98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Usuário</a:t>
            </a:r>
          </a:p>
        </p:txBody>
      </p:sp>
      <p:sp>
        <p:nvSpPr>
          <p:cNvPr id="8" name="texto">
            <a:extLst xmlns:a="http://schemas.openxmlformats.org/drawingml/2006/main">
              <a:ext uri="{FF2B5EF4-FFF2-40B4-BE49-F238E27FC236}">
                <a16:creationId xmlns:a16="http://schemas.microsoft.com/office/drawing/2014/main" id="{0DB7F044-4541-47EA-AAC7-04C4651F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337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Todos consultam. Recepção abre.</a:t>
            </a:r>
          </a:p>
        </p:txBody>
      </p:sp>
      <p:sp>
        <p:nvSpPr>
          <p:cNvPr id="9" name="texto">
            <a:extLst xmlns:a="http://schemas.openxmlformats.org/drawingml/2006/main">
              <a:ext uri="{FF2B5EF4-FFF2-40B4-BE49-F238E27FC236}">
                <a16:creationId xmlns:a16="http://schemas.microsoft.com/office/drawing/2014/main" id="{153E5E44-D606-4A8C-B1DC-09CDFA9F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Dados e ações</a:t>
            </a:r>
          </a:p>
        </p:txBody>
      </p:sp>
      <p:sp>
        <p:nvSpPr>
          <p:cNvPr id="10" name="texto">
            <a:extLst xmlns:a="http://schemas.openxmlformats.org/drawingml/2006/main">
              <a:ext uri="{FF2B5EF4-FFF2-40B4-BE49-F238E27FC236}">
                <a16:creationId xmlns:a16="http://schemas.microsoft.com/office/drawing/2014/main" id="{F1795C74-CB37-4950-9211-4B9219B1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148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Veículo, cliente, responsável e status. Buscar e filtrar.</a:t>
            </a:r>
          </a:p>
        </p:txBody>
      </p:sp>
      <p:sp>
        <p:nvSpPr>
          <p:cNvPr id="11" name="texto">
            <a:extLst xmlns:a="http://schemas.openxmlformats.org/drawingml/2006/main">
              <a:ext uri="{FF2B5EF4-FFF2-40B4-BE49-F238E27FC236}">
                <a16:creationId xmlns:a16="http://schemas.microsoft.com/office/drawing/2014/main" id="{D5285CD7-6A68-44CF-9714-0BBBF357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7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12" name="texto">
            <a:extLst xmlns:a="http://schemas.openxmlformats.org/drawingml/2006/main">
              <a:ext uri="{FF2B5EF4-FFF2-40B4-BE49-F238E27FC236}">
                <a16:creationId xmlns:a16="http://schemas.microsoft.com/office/drawing/2014/main" id="{2A481800-8927-44A0-9D6D-9C78B46D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959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Abrir detalhes do atendimento.</a:t>
            </a:r>
          </a:p>
        </p:txBody>
      </p:sp>
    </p:spTree>
    <p:extLst>
      <p:ext uri="{BB962C8B-B14F-4D97-AF65-F5344CB8AC3E}">
        <p14:creationId xmlns:p14="http://schemas.microsoft.com/office/powerpoint/2010/main" val="15895757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ulo">
            <a:extLst xmlns:a="http://schemas.openxmlformats.org/drawingml/2006/main">
              <a:ext uri="{FF2B5EF4-FFF2-40B4-BE49-F238E27FC236}">
                <a16:creationId xmlns:a16="http://schemas.microsoft.com/office/drawing/2014/main" id="{FDBAEC3A-C0A4-4EC6-B408-4838B17A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Execução do atendimento</a:t>
            </a:r>
          </a:p>
        </p:txBody>
      </p:sp>
      <p:sp>
        <p:nvSpPr>
          <p:cNvPr id="2" name="texto">
            <a:extLst xmlns:a="http://schemas.openxmlformats.org/drawingml/2006/main">
              <a:ext uri="{FF2B5EF4-FFF2-40B4-BE49-F238E27FC236}">
                <a16:creationId xmlns:a16="http://schemas.microsoft.com/office/drawing/2014/main" id="{EC1BF922-F12F-4786-871E-D7373972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Torq Oficina  /  Grupo 04</a:t>
            </a:r>
          </a:p>
        </p:txBody>
      </p:sp>
      <p:sp>
        <p:nvSpPr>
          <p:cNvPr id="3" name="texto">
            <a:extLst xmlns:a="http://schemas.openxmlformats.org/drawingml/2006/main">
              <a:ext uri="{FF2B5EF4-FFF2-40B4-BE49-F238E27FC236}">
                <a16:creationId xmlns:a16="http://schemas.microsoft.com/office/drawing/2014/main" id="{D83DBEDB-2FF4-4BC0-BFF7-18255805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6E00C-8977-426A-9C9E-5DAE478A03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e45d42eef4ae4"/>
          <a:stretch xmlns:a="http://schemas.openxmlformats.org/drawingml/2006/main"/>
        </p:blipFill>
        <p:spPr>
          <a:xfrm xmlns:a="http://schemas.openxmlformats.org/drawingml/2006/main">
            <a:off x="1493338" y="1381125"/>
            <a:ext cx="5471526" cy="4905375"/>
          </a:xfrm>
          <a:prstGeom xmlns:a="http://schemas.openxmlformats.org/drawingml/2006/main" prst="rect">
            <a:avLst/>
          </a:prstGeom>
        </p:spPr>
      </p:pic>
      <p:sp>
        <p:nvSpPr>
          <p:cNvPr id="5" name="texto">
            <a:extLst xmlns:a="http://schemas.openxmlformats.org/drawingml/2006/main">
              <a:ext uri="{FF2B5EF4-FFF2-40B4-BE49-F238E27FC236}">
                <a16:creationId xmlns:a16="http://schemas.microsoft.com/office/drawing/2014/main" id="{9050F853-814E-4A63-B32E-97A9A0FE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28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Finalidade</a:t>
            </a:r>
          </a:p>
        </p:txBody>
      </p:sp>
      <p:sp>
        <p:nvSpPr>
          <p:cNvPr id="6" name="texto">
            <a:extLst xmlns:a="http://schemas.openxmlformats.org/drawingml/2006/main">
              <a:ext uri="{FF2B5EF4-FFF2-40B4-BE49-F238E27FC236}">
                <a16:creationId xmlns:a16="http://schemas.microsoft.com/office/drawing/2014/main" id="{A8E58885-A337-4CBE-8F80-F5FACEF5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Registrar a manutenção.</a:t>
            </a:r>
          </a:p>
        </p:txBody>
      </p:sp>
      <p:sp>
        <p:nvSpPr>
          <p:cNvPr id="7" name="texto">
            <a:extLst xmlns:a="http://schemas.openxmlformats.org/drawingml/2006/main">
              <a:ext uri="{FF2B5EF4-FFF2-40B4-BE49-F238E27FC236}">
                <a16:creationId xmlns:a16="http://schemas.microsoft.com/office/drawing/2014/main" id="{FDC37F6D-99BE-45D2-AE86-398F91F7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98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Usuário</a:t>
            </a:r>
          </a:p>
        </p:txBody>
      </p:sp>
      <p:sp>
        <p:nvSpPr>
          <p:cNvPr id="8" name="texto">
            <a:extLst xmlns:a="http://schemas.openxmlformats.org/drawingml/2006/main">
              <a:ext uri="{FF2B5EF4-FFF2-40B4-BE49-F238E27FC236}">
                <a16:creationId xmlns:a16="http://schemas.microsoft.com/office/drawing/2014/main" id="{0C9ABD0C-1702-4F7B-959A-7C8AD49D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337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Ações conforme o perfil.</a:t>
            </a:r>
          </a:p>
        </p:txBody>
      </p:sp>
      <p:sp>
        <p:nvSpPr>
          <p:cNvPr id="9" name="texto">
            <a:extLst xmlns:a="http://schemas.openxmlformats.org/drawingml/2006/main">
              <a:ext uri="{FF2B5EF4-FFF2-40B4-BE49-F238E27FC236}">
                <a16:creationId xmlns:a16="http://schemas.microsoft.com/office/drawing/2014/main" id="{4AA0734E-E210-4164-9EB1-65C32A8E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Dados e ações</a:t>
            </a:r>
          </a:p>
        </p:txBody>
      </p:sp>
      <p:sp>
        <p:nvSpPr>
          <p:cNvPr id="10" name="texto">
            <a:extLst xmlns:a="http://schemas.openxmlformats.org/drawingml/2006/main">
              <a:ext uri="{FF2B5EF4-FFF2-40B4-BE49-F238E27FC236}">
                <a16:creationId xmlns:a16="http://schemas.microsoft.com/office/drawing/2014/main" id="{AE225AC3-F5FE-4CDF-BF6C-045713D9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148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Serviços, peças e total. Incluir itens e mudar status.</a:t>
            </a:r>
          </a:p>
        </p:txBody>
      </p:sp>
      <p:sp>
        <p:nvSpPr>
          <p:cNvPr id="11" name="texto">
            <a:extLst xmlns:a="http://schemas.openxmlformats.org/drawingml/2006/main">
              <a:ext uri="{FF2B5EF4-FFF2-40B4-BE49-F238E27FC236}">
                <a16:creationId xmlns:a16="http://schemas.microsoft.com/office/drawing/2014/main" id="{4E1AC1BE-402C-43E9-BCD5-86820EB6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7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12" name="texto">
            <a:extLst xmlns:a="http://schemas.openxmlformats.org/drawingml/2006/main">
              <a:ext uri="{FF2B5EF4-FFF2-40B4-BE49-F238E27FC236}">
                <a16:creationId xmlns:a16="http://schemas.microsoft.com/office/drawing/2014/main" id="{49252368-3B7E-4D0F-98EA-04BAFD16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959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Baixa de estoque e histórico na mesma operação.</a:t>
            </a:r>
          </a:p>
        </p:txBody>
      </p:sp>
    </p:spTree>
    <p:extLst>
      <p:ext uri="{BB962C8B-B14F-4D97-AF65-F5344CB8AC3E}">
        <p14:creationId xmlns:p14="http://schemas.microsoft.com/office/powerpoint/2010/main" val="372025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ulo">
            <a:extLst xmlns:a="http://schemas.openxmlformats.org/drawingml/2006/main">
              <a:ext uri="{FF2B5EF4-FFF2-40B4-BE49-F238E27FC236}">
                <a16:creationId xmlns:a16="http://schemas.microsoft.com/office/drawing/2014/main" id="{2491D55C-0AAB-40C8-8470-2472802F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Peças e estoque</a:t>
            </a:r>
          </a:p>
        </p:txBody>
      </p:sp>
      <p:sp>
        <p:nvSpPr>
          <p:cNvPr id="2" name="texto">
            <a:extLst xmlns:a="http://schemas.openxmlformats.org/drawingml/2006/main">
              <a:ext uri="{FF2B5EF4-FFF2-40B4-BE49-F238E27FC236}">
                <a16:creationId xmlns:a16="http://schemas.microsoft.com/office/drawing/2014/main" id="{330BB5C0-DD80-41C0-BA2F-A3992CF3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Torq Oficina  /  Grupo 04</a:t>
            </a:r>
          </a:p>
        </p:txBody>
      </p:sp>
      <p:sp>
        <p:nvSpPr>
          <p:cNvPr id="3" name="texto">
            <a:extLst xmlns:a="http://schemas.openxmlformats.org/drawingml/2006/main">
              <a:ext uri="{FF2B5EF4-FFF2-40B4-BE49-F238E27FC236}">
                <a16:creationId xmlns:a16="http://schemas.microsoft.com/office/drawing/2014/main" id="{D6351616-CBC6-453A-BA35-D8C7B803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F4E97-E4F8-4775-A73C-581A8102F7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82351f1cc42f6"/>
          <a:stretch xmlns:a="http://schemas.openxmlformats.org/drawingml/2006/main"/>
        </p:blipFill>
        <p:spPr>
          <a:xfrm xmlns:a="http://schemas.openxmlformats.org/drawingml/2006/main">
            <a:off x="697230" y="1381125"/>
            <a:ext cx="7063740" cy="4905375"/>
          </a:xfrm>
          <a:prstGeom xmlns:a="http://schemas.openxmlformats.org/drawingml/2006/main" prst="rect">
            <a:avLst/>
          </a:prstGeom>
        </p:spPr>
      </p:pic>
      <p:sp>
        <p:nvSpPr>
          <p:cNvPr id="5" name="texto">
            <a:extLst xmlns:a="http://schemas.openxmlformats.org/drawingml/2006/main">
              <a:ext uri="{FF2B5EF4-FFF2-40B4-BE49-F238E27FC236}">
                <a16:creationId xmlns:a16="http://schemas.microsoft.com/office/drawing/2014/main" id="{CF41D810-78D1-4569-93F2-328809C2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28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Finalidade</a:t>
            </a:r>
          </a:p>
        </p:txBody>
      </p:sp>
      <p:sp>
        <p:nvSpPr>
          <p:cNvPr id="6" name="texto">
            <a:extLst xmlns:a="http://schemas.openxmlformats.org/drawingml/2006/main">
              <a:ext uri="{FF2B5EF4-FFF2-40B4-BE49-F238E27FC236}">
                <a16:creationId xmlns:a16="http://schemas.microsoft.com/office/drawing/2014/main" id="{86C0F676-457A-4648-92BE-EBC2DDBA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Controlar disponibilidade.</a:t>
            </a:r>
          </a:p>
        </p:txBody>
      </p:sp>
      <p:sp>
        <p:nvSpPr>
          <p:cNvPr id="7" name="texto">
            <a:extLst xmlns:a="http://schemas.openxmlformats.org/drawingml/2006/main">
              <a:ext uri="{FF2B5EF4-FFF2-40B4-BE49-F238E27FC236}">
                <a16:creationId xmlns:a16="http://schemas.microsoft.com/office/drawing/2014/main" id="{BFEC8C17-849F-44AD-A9EF-2789AD30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98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Usuário</a:t>
            </a:r>
          </a:p>
        </p:txBody>
      </p:sp>
      <p:sp>
        <p:nvSpPr>
          <p:cNvPr id="8" name="texto">
            <a:extLst xmlns:a="http://schemas.openxmlformats.org/drawingml/2006/main">
              <a:ext uri="{FF2B5EF4-FFF2-40B4-BE49-F238E27FC236}">
                <a16:creationId xmlns:a16="http://schemas.microsoft.com/office/drawing/2014/main" id="{68E15091-E87B-4F76-A9FD-120D1AFD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337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Todos consultam. Admin altera.</a:t>
            </a:r>
          </a:p>
        </p:txBody>
      </p:sp>
      <p:sp>
        <p:nvSpPr>
          <p:cNvPr id="9" name="texto">
            <a:extLst xmlns:a="http://schemas.openxmlformats.org/drawingml/2006/main">
              <a:ext uri="{FF2B5EF4-FFF2-40B4-BE49-F238E27FC236}">
                <a16:creationId xmlns:a16="http://schemas.microsoft.com/office/drawing/2014/main" id="{11316F27-38CB-44BC-B875-24218ACD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Dados e ações</a:t>
            </a:r>
          </a:p>
        </p:txBody>
      </p:sp>
      <p:sp>
        <p:nvSpPr>
          <p:cNvPr id="10" name="texto">
            <a:extLst xmlns:a="http://schemas.openxmlformats.org/drawingml/2006/main">
              <a:ext uri="{FF2B5EF4-FFF2-40B4-BE49-F238E27FC236}">
                <a16:creationId xmlns:a16="http://schemas.microsoft.com/office/drawing/2014/main" id="{E854FB62-4707-4865-A80D-BADB22C5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148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Peça, preço, saldo e mínimo. Cadastrar e movimentar.</a:t>
            </a:r>
          </a:p>
        </p:txBody>
      </p:sp>
      <p:sp>
        <p:nvSpPr>
          <p:cNvPr id="11" name="texto">
            <a:extLst xmlns:a="http://schemas.openxmlformats.org/drawingml/2006/main">
              <a:ext uri="{FF2B5EF4-FFF2-40B4-BE49-F238E27FC236}">
                <a16:creationId xmlns:a16="http://schemas.microsoft.com/office/drawing/2014/main" id="{AB7132C4-B0C6-43EA-AD57-DC9750A4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7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12" name="texto">
            <a:extLst xmlns:a="http://schemas.openxmlformats.org/drawingml/2006/main">
              <a:ext uri="{FF2B5EF4-FFF2-40B4-BE49-F238E27FC236}">
                <a16:creationId xmlns:a16="http://schemas.microsoft.com/office/drawing/2014/main" id="{F91BC221-370A-43A6-9C63-19634A35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959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Consumo na ordem reduz o saldo.</a:t>
            </a:r>
          </a:p>
        </p:txBody>
      </p:sp>
    </p:spTree>
    <p:extLst>
      <p:ext uri="{BB962C8B-B14F-4D97-AF65-F5344CB8AC3E}">
        <p14:creationId xmlns:p14="http://schemas.microsoft.com/office/powerpoint/2010/main" val="20016187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ulo">
            <a:extLst xmlns:a="http://schemas.openxmlformats.org/drawingml/2006/main">
              <a:ext uri="{FF2B5EF4-FFF2-40B4-BE49-F238E27FC236}">
                <a16:creationId xmlns:a16="http://schemas.microsoft.com/office/drawing/2014/main" id="{B9A667F0-4B16-4B0D-BD22-47A5CCBF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Movimentações de materiais</a:t>
            </a:r>
          </a:p>
        </p:txBody>
      </p:sp>
      <p:sp>
        <p:nvSpPr>
          <p:cNvPr id="2" name="texto">
            <a:extLst xmlns:a="http://schemas.openxmlformats.org/drawingml/2006/main">
              <a:ext uri="{FF2B5EF4-FFF2-40B4-BE49-F238E27FC236}">
                <a16:creationId xmlns:a16="http://schemas.microsoft.com/office/drawing/2014/main" id="{87770B6F-8347-4BAF-A27C-16E0B192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Torq Oficina  /  Grupo 04</a:t>
            </a:r>
          </a:p>
        </p:txBody>
      </p:sp>
      <p:sp>
        <p:nvSpPr>
          <p:cNvPr id="3" name="texto">
            <a:extLst xmlns:a="http://schemas.openxmlformats.org/drawingml/2006/main">
              <a:ext uri="{FF2B5EF4-FFF2-40B4-BE49-F238E27FC236}">
                <a16:creationId xmlns:a16="http://schemas.microsoft.com/office/drawing/2014/main" id="{639C1C70-E8E1-46E8-9525-3891BF52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C6B2A-42FC-4857-9D9C-24491F7A44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9b9d52b354024"/>
          <a:stretch xmlns:a="http://schemas.openxmlformats.org/drawingml/2006/main"/>
        </p:blipFill>
        <p:spPr>
          <a:xfrm xmlns:a="http://schemas.openxmlformats.org/drawingml/2006/main">
            <a:off x="697230" y="1381125"/>
            <a:ext cx="7063740" cy="4905375"/>
          </a:xfrm>
          <a:prstGeom xmlns:a="http://schemas.openxmlformats.org/drawingml/2006/main" prst="rect">
            <a:avLst/>
          </a:prstGeom>
        </p:spPr>
      </p:pic>
      <p:sp>
        <p:nvSpPr>
          <p:cNvPr id="5" name="texto">
            <a:extLst xmlns:a="http://schemas.openxmlformats.org/drawingml/2006/main">
              <a:ext uri="{FF2B5EF4-FFF2-40B4-BE49-F238E27FC236}">
                <a16:creationId xmlns:a16="http://schemas.microsoft.com/office/drawing/2014/main" id="{81DE5608-BCEE-49FA-872D-333080FC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28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Finalidade</a:t>
            </a:r>
          </a:p>
        </p:txBody>
      </p:sp>
      <p:sp>
        <p:nvSpPr>
          <p:cNvPr id="6" name="texto">
            <a:extLst xmlns:a="http://schemas.openxmlformats.org/drawingml/2006/main">
              <a:ext uri="{FF2B5EF4-FFF2-40B4-BE49-F238E27FC236}">
                <a16:creationId xmlns:a16="http://schemas.microsoft.com/office/drawing/2014/main" id="{C2B2101D-0CF1-460A-91CC-377597CB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Rastrear as mudanças de saldo.</a:t>
            </a:r>
          </a:p>
        </p:txBody>
      </p:sp>
      <p:sp>
        <p:nvSpPr>
          <p:cNvPr id="7" name="texto">
            <a:extLst xmlns:a="http://schemas.openxmlformats.org/drawingml/2006/main">
              <a:ext uri="{FF2B5EF4-FFF2-40B4-BE49-F238E27FC236}">
                <a16:creationId xmlns:a16="http://schemas.microsoft.com/office/drawing/2014/main" id="{868D0278-C677-44D4-91A6-F380C3E1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98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Usuário</a:t>
            </a:r>
          </a:p>
        </p:txBody>
      </p:sp>
      <p:sp>
        <p:nvSpPr>
          <p:cNvPr id="8" name="texto">
            <a:extLst xmlns:a="http://schemas.openxmlformats.org/drawingml/2006/main">
              <a:ext uri="{FF2B5EF4-FFF2-40B4-BE49-F238E27FC236}">
                <a16:creationId xmlns:a16="http://schemas.microsoft.com/office/drawing/2014/main" id="{54FB5A54-89A8-4524-A55F-7A4ADCBE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337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Todos os perfis.</a:t>
            </a:r>
          </a:p>
        </p:txBody>
      </p:sp>
      <p:sp>
        <p:nvSpPr>
          <p:cNvPr id="9" name="texto">
            <a:extLst xmlns:a="http://schemas.openxmlformats.org/drawingml/2006/main">
              <a:ext uri="{FF2B5EF4-FFF2-40B4-BE49-F238E27FC236}">
                <a16:creationId xmlns:a16="http://schemas.microsoft.com/office/drawing/2014/main" id="{69D7732D-DD09-487F-AFE4-70C5B4F4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Dados e ações</a:t>
            </a:r>
          </a:p>
        </p:txBody>
      </p:sp>
      <p:sp>
        <p:nvSpPr>
          <p:cNvPr id="10" name="texto">
            <a:extLst xmlns:a="http://schemas.openxmlformats.org/drawingml/2006/main">
              <a:ext uri="{FF2B5EF4-FFF2-40B4-BE49-F238E27FC236}">
                <a16:creationId xmlns:a16="http://schemas.microsoft.com/office/drawing/2014/main" id="{1AC4B601-A35E-405F-BEB7-DEAAB14C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148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Tipo, quantidade, saldo, autor e motivo. Buscar.</a:t>
            </a:r>
          </a:p>
        </p:txBody>
      </p:sp>
      <p:sp>
        <p:nvSpPr>
          <p:cNvPr id="11" name="texto">
            <a:extLst xmlns:a="http://schemas.openxmlformats.org/drawingml/2006/main">
              <a:ext uri="{FF2B5EF4-FFF2-40B4-BE49-F238E27FC236}">
                <a16:creationId xmlns:a16="http://schemas.microsoft.com/office/drawing/2014/main" id="{BC9CC8C9-D0F6-4858-B3E6-038ECD67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7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12" name="texto">
            <a:extLst xmlns:a="http://schemas.openxmlformats.org/drawingml/2006/main">
              <a:ext uri="{FF2B5EF4-FFF2-40B4-BE49-F238E27FC236}">
                <a16:creationId xmlns:a16="http://schemas.microsoft.com/office/drawing/2014/main" id="{AC66FA08-8061-41D2-8852-6C655F2B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959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Abrir a ordem de origem.</a:t>
            </a:r>
          </a:p>
        </p:txBody>
      </p:sp>
    </p:spTree>
    <p:extLst>
      <p:ext uri="{BB962C8B-B14F-4D97-AF65-F5344CB8AC3E}">
        <p14:creationId xmlns:p14="http://schemas.microsoft.com/office/powerpoint/2010/main" val="14305805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ulo">
            <a:extLst xmlns:a="http://schemas.openxmlformats.org/drawingml/2006/main">
              <a:ext uri="{FF2B5EF4-FFF2-40B4-BE49-F238E27FC236}">
                <a16:creationId xmlns:a16="http://schemas.microsoft.com/office/drawing/2014/main" id="{6E0086C7-ECFF-4ABC-B981-0575DC67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Histórico dos atendimentos</a:t>
            </a:r>
          </a:p>
        </p:txBody>
      </p:sp>
      <p:sp>
        <p:nvSpPr>
          <p:cNvPr id="2" name="texto">
            <a:extLst xmlns:a="http://schemas.openxmlformats.org/drawingml/2006/main">
              <a:ext uri="{FF2B5EF4-FFF2-40B4-BE49-F238E27FC236}">
                <a16:creationId xmlns:a16="http://schemas.microsoft.com/office/drawing/2014/main" id="{C841E708-8C2D-432C-9EA1-97C5623E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Torq Oficina  /  Grupo 04</a:t>
            </a:r>
          </a:p>
        </p:txBody>
      </p:sp>
      <p:sp>
        <p:nvSpPr>
          <p:cNvPr id="3" name="texto">
            <a:extLst xmlns:a="http://schemas.openxmlformats.org/drawingml/2006/main">
              <a:ext uri="{FF2B5EF4-FFF2-40B4-BE49-F238E27FC236}">
                <a16:creationId xmlns:a16="http://schemas.microsoft.com/office/drawing/2014/main" id="{C8E4C3D3-F031-4ACC-B6AD-7FD0C921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B8253-3F4F-40B8-A0EC-745D534884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f1fdb792040ff"/>
          <a:stretch xmlns:a="http://schemas.openxmlformats.org/drawingml/2006/main"/>
        </p:blipFill>
        <p:spPr>
          <a:xfrm xmlns:a="http://schemas.openxmlformats.org/drawingml/2006/main">
            <a:off x="697230" y="1381125"/>
            <a:ext cx="7063740" cy="4905375"/>
          </a:xfrm>
          <a:prstGeom xmlns:a="http://schemas.openxmlformats.org/drawingml/2006/main" prst="rect">
            <a:avLst/>
          </a:prstGeom>
        </p:spPr>
      </p:pic>
      <p:sp>
        <p:nvSpPr>
          <p:cNvPr id="5" name="texto">
            <a:extLst xmlns:a="http://schemas.openxmlformats.org/drawingml/2006/main">
              <a:ext uri="{FF2B5EF4-FFF2-40B4-BE49-F238E27FC236}">
                <a16:creationId xmlns:a16="http://schemas.microsoft.com/office/drawing/2014/main" id="{A3AEEFAC-306B-4A8B-888D-F3A0D5F4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28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Finalidade</a:t>
            </a:r>
          </a:p>
        </p:txBody>
      </p:sp>
      <p:sp>
        <p:nvSpPr>
          <p:cNvPr id="6" name="texto">
            <a:extLst xmlns:a="http://schemas.openxmlformats.org/drawingml/2006/main">
              <a:ext uri="{FF2B5EF4-FFF2-40B4-BE49-F238E27FC236}">
                <a16:creationId xmlns:a16="http://schemas.microsoft.com/office/drawing/2014/main" id="{13AB3D8C-C393-439C-95D3-28587390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Consultar eventos das ordens.</a:t>
            </a:r>
          </a:p>
        </p:txBody>
      </p:sp>
      <p:sp>
        <p:nvSpPr>
          <p:cNvPr id="7" name="texto">
            <a:extLst xmlns:a="http://schemas.openxmlformats.org/drawingml/2006/main">
              <a:ext uri="{FF2B5EF4-FFF2-40B4-BE49-F238E27FC236}">
                <a16:creationId xmlns:a16="http://schemas.microsoft.com/office/drawing/2014/main" id="{4426D368-1429-47D6-9C77-1388E05B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98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Usuário</a:t>
            </a:r>
          </a:p>
        </p:txBody>
      </p:sp>
      <p:sp>
        <p:nvSpPr>
          <p:cNvPr id="8" name="texto">
            <a:extLst xmlns:a="http://schemas.openxmlformats.org/drawingml/2006/main">
              <a:ext uri="{FF2B5EF4-FFF2-40B4-BE49-F238E27FC236}">
                <a16:creationId xmlns:a16="http://schemas.microsoft.com/office/drawing/2014/main" id="{580F956C-2EC6-404E-87AF-9FD597BE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337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Todos os perfis.</a:t>
            </a:r>
          </a:p>
        </p:txBody>
      </p:sp>
      <p:sp>
        <p:nvSpPr>
          <p:cNvPr id="9" name="texto">
            <a:extLst xmlns:a="http://schemas.openxmlformats.org/drawingml/2006/main">
              <a:ext uri="{FF2B5EF4-FFF2-40B4-BE49-F238E27FC236}">
                <a16:creationId xmlns:a16="http://schemas.microsoft.com/office/drawing/2014/main" id="{B11B8C5B-268E-4874-A7AB-C5E82DFA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Dados e ações</a:t>
            </a:r>
          </a:p>
        </p:txBody>
      </p:sp>
      <p:sp>
        <p:nvSpPr>
          <p:cNvPr id="10" name="texto">
            <a:extLst xmlns:a="http://schemas.openxmlformats.org/drawingml/2006/main">
              <a:ext uri="{FF2B5EF4-FFF2-40B4-BE49-F238E27FC236}">
                <a16:creationId xmlns:a16="http://schemas.microsoft.com/office/drawing/2014/main" id="{69D93173-4A26-4E24-994E-16030E50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148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Data, placa, evento e usuário. Buscar.</a:t>
            </a:r>
          </a:p>
        </p:txBody>
      </p:sp>
      <p:sp>
        <p:nvSpPr>
          <p:cNvPr id="11" name="texto">
            <a:extLst xmlns:a="http://schemas.openxmlformats.org/drawingml/2006/main">
              <a:ext uri="{FF2B5EF4-FFF2-40B4-BE49-F238E27FC236}">
                <a16:creationId xmlns:a16="http://schemas.microsoft.com/office/drawing/2014/main" id="{B5ED695F-FF02-46C4-B86B-D797276F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7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12" name="texto">
            <a:extLst xmlns:a="http://schemas.openxmlformats.org/drawingml/2006/main">
              <a:ext uri="{FF2B5EF4-FFF2-40B4-BE49-F238E27FC236}">
                <a16:creationId xmlns:a16="http://schemas.microsoft.com/office/drawing/2014/main" id="{4A0BCD4C-1078-468C-B207-B582CE6D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959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Abrir o atendimento relacionado.</a:t>
            </a:r>
          </a:p>
        </p:txBody>
      </p:sp>
    </p:spTree>
    <p:extLst>
      <p:ext uri="{BB962C8B-B14F-4D97-AF65-F5344CB8AC3E}">
        <p14:creationId xmlns:p14="http://schemas.microsoft.com/office/powerpoint/2010/main" val="17826305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ulo">
            <a:extLst xmlns:a="http://schemas.openxmlformats.org/drawingml/2006/main">
              <a:ext uri="{FF2B5EF4-FFF2-40B4-BE49-F238E27FC236}">
                <a16:creationId xmlns:a16="http://schemas.microsoft.com/office/drawing/2014/main" id="{5FDF22FD-FE6C-45EA-9254-0B2D6A6A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Usuários e permissões</a:t>
            </a:r>
          </a:p>
        </p:txBody>
      </p:sp>
      <p:sp>
        <p:nvSpPr>
          <p:cNvPr id="2" name="texto">
            <a:extLst xmlns:a="http://schemas.openxmlformats.org/drawingml/2006/main">
              <a:ext uri="{FF2B5EF4-FFF2-40B4-BE49-F238E27FC236}">
                <a16:creationId xmlns:a16="http://schemas.microsoft.com/office/drawing/2014/main" id="{45A72F2B-9F78-44DA-A8DC-A047E632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Torq Oficina  /  Grupo 04</a:t>
            </a:r>
          </a:p>
        </p:txBody>
      </p:sp>
      <p:sp>
        <p:nvSpPr>
          <p:cNvPr id="3" name="texto">
            <a:extLst xmlns:a="http://schemas.openxmlformats.org/drawingml/2006/main">
              <a:ext uri="{FF2B5EF4-FFF2-40B4-BE49-F238E27FC236}">
                <a16:creationId xmlns:a16="http://schemas.microsoft.com/office/drawing/2014/main" id="{E41EF6FD-DDA0-45B0-AD42-70DDD47F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A233B-3376-4F9F-BACD-80DF4AAC65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2a060c54c4cf7"/>
          <a:stretch xmlns:a="http://schemas.openxmlformats.org/drawingml/2006/main"/>
        </p:blipFill>
        <p:spPr>
          <a:xfrm xmlns:a="http://schemas.openxmlformats.org/drawingml/2006/main">
            <a:off x="697230" y="1381125"/>
            <a:ext cx="7063740" cy="4905375"/>
          </a:xfrm>
          <a:prstGeom xmlns:a="http://schemas.openxmlformats.org/drawingml/2006/main" prst="rect">
            <a:avLst/>
          </a:prstGeom>
        </p:spPr>
      </p:pic>
      <p:sp>
        <p:nvSpPr>
          <p:cNvPr id="5" name="texto">
            <a:extLst xmlns:a="http://schemas.openxmlformats.org/drawingml/2006/main">
              <a:ext uri="{FF2B5EF4-FFF2-40B4-BE49-F238E27FC236}">
                <a16:creationId xmlns:a16="http://schemas.microsoft.com/office/drawing/2014/main" id="{36036581-2CD3-4CD2-91F5-AD0E70E0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28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Finalidade</a:t>
            </a:r>
          </a:p>
        </p:txBody>
      </p:sp>
      <p:sp>
        <p:nvSpPr>
          <p:cNvPr id="6" name="texto">
            <a:extLst xmlns:a="http://schemas.openxmlformats.org/drawingml/2006/main">
              <a:ext uri="{FF2B5EF4-FFF2-40B4-BE49-F238E27FC236}">
                <a16:creationId xmlns:a16="http://schemas.microsoft.com/office/drawing/2014/main" id="{8F300D5D-15BC-4699-8F97-1425F0F1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Controlar o acesso da equipe.</a:t>
            </a:r>
          </a:p>
        </p:txBody>
      </p:sp>
      <p:sp>
        <p:nvSpPr>
          <p:cNvPr id="7" name="texto">
            <a:extLst xmlns:a="http://schemas.openxmlformats.org/drawingml/2006/main">
              <a:ext uri="{FF2B5EF4-FFF2-40B4-BE49-F238E27FC236}">
                <a16:creationId xmlns:a16="http://schemas.microsoft.com/office/drawing/2014/main" id="{48374D39-FB66-4A95-B44F-CE7E33A3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98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Usuário</a:t>
            </a:r>
          </a:p>
        </p:txBody>
      </p:sp>
      <p:sp>
        <p:nvSpPr>
          <p:cNvPr id="8" name="texto">
            <a:extLst xmlns:a="http://schemas.openxmlformats.org/drawingml/2006/main">
              <a:ext uri="{FF2B5EF4-FFF2-40B4-BE49-F238E27FC236}">
                <a16:creationId xmlns:a16="http://schemas.microsoft.com/office/drawing/2014/main" id="{E59D6AA7-736F-403D-AEF4-CC49902C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337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Administrador.</a:t>
            </a:r>
          </a:p>
        </p:txBody>
      </p:sp>
      <p:sp>
        <p:nvSpPr>
          <p:cNvPr id="9" name="texto">
            <a:extLst xmlns:a="http://schemas.openxmlformats.org/drawingml/2006/main">
              <a:ext uri="{FF2B5EF4-FFF2-40B4-BE49-F238E27FC236}">
                <a16:creationId xmlns:a16="http://schemas.microsoft.com/office/drawing/2014/main" id="{61E78A26-50FF-45DA-940F-CB6F1F0D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Dados e ações</a:t>
            </a:r>
          </a:p>
        </p:txBody>
      </p:sp>
      <p:sp>
        <p:nvSpPr>
          <p:cNvPr id="10" name="texto">
            <a:extLst xmlns:a="http://schemas.openxmlformats.org/drawingml/2006/main">
              <a:ext uri="{FF2B5EF4-FFF2-40B4-BE49-F238E27FC236}">
                <a16:creationId xmlns:a16="http://schemas.microsoft.com/office/drawing/2014/main" id="{B7495FB8-6980-4362-9AB4-A60F541E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148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Nome, e-mail, perfil e ativo. Criar, editar e desativar.</a:t>
            </a:r>
          </a:p>
        </p:txBody>
      </p:sp>
      <p:sp>
        <p:nvSpPr>
          <p:cNvPr id="11" name="texto">
            <a:extLst xmlns:a="http://schemas.openxmlformats.org/drawingml/2006/main">
              <a:ext uri="{FF2B5EF4-FFF2-40B4-BE49-F238E27FC236}">
                <a16:creationId xmlns:a16="http://schemas.microsoft.com/office/drawing/2014/main" id="{7BD0F719-168E-4907-9AD4-87FCF113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7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12" name="texto">
            <a:extLst xmlns:a="http://schemas.openxmlformats.org/drawingml/2006/main">
              <a:ext uri="{FF2B5EF4-FFF2-40B4-BE49-F238E27FC236}">
                <a16:creationId xmlns:a16="http://schemas.microsoft.com/office/drawing/2014/main" id="{0CF699EC-04B5-44FE-92CE-2B4E7819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959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Perfil limita ações no servidor.</a:t>
            </a:r>
          </a:p>
        </p:txBody>
      </p:sp>
    </p:spTree>
    <p:extLst>
      <p:ext uri="{BB962C8B-B14F-4D97-AF65-F5344CB8AC3E}">
        <p14:creationId xmlns:p14="http://schemas.microsoft.com/office/powerpoint/2010/main" val="11804162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87758-9F7B-4EBD-B5E7-E3B6D788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Auditoria administrativa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10618-4D1D-4949-8E38-4841FFBD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Torq Oficina  /  Grupo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188D0-3462-441B-8716-EAF0A409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0E060-B1E6-4416-AF86-C49EA5BE8B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bdc830e2645a9"/>
          <a:stretch xmlns:a="http://schemas.openxmlformats.org/drawingml/2006/main"/>
        </p:blipFill>
        <p:spPr>
          <a:xfrm xmlns:a="http://schemas.openxmlformats.org/drawingml/2006/main">
            <a:off x="697230" y="1381125"/>
            <a:ext cx="7063740" cy="4905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A5715-BE51-404B-A064-821AFF16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28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Finalidade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442CB-120E-4608-9D01-4911EC8E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Rastrear acessos e alterações.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61D5B-086E-484C-9276-FA33E861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98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Usuário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71868-49C1-4D26-95B3-664B577A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337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Administrador.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1C573-3932-42B4-8664-8255686E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Dados e ações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12B21-D30C-46E8-9D0A-D45E893C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148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Data, autor e ação. Buscar, filtrar e exportar.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0FCE0-307E-441C-9BB5-150BDB7C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72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1F19A-D383-4339-BE31-49ACF1DA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959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Operações registradas pelo servidor Java.</a:t>
            </a:r>
          </a:p>
        </p:txBody>
      </p:sp>
    </p:spTree>
    <p:extLst>
      <p:ext uri="{BB962C8B-B14F-4D97-AF65-F5344CB8AC3E}">
        <p14:creationId xmlns:p14="http://schemas.microsoft.com/office/powerpoint/2010/main" val="11638051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ulo">
            <a:extLst xmlns:a="http://schemas.openxmlformats.org/drawingml/2006/main">
              <a:ext uri="{FF2B5EF4-FFF2-40B4-BE49-F238E27FC236}">
                <a16:creationId xmlns:a16="http://schemas.microsoft.com/office/drawing/2014/main" id="{6EE5706C-8BA5-48CD-8834-2DB40846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Testes e resultados</a:t>
            </a:r>
          </a:p>
        </p:txBody>
      </p:sp>
      <p:sp>
        <p:nvSpPr>
          <p:cNvPr id="2" name="texto">
            <a:extLst xmlns:a="http://schemas.openxmlformats.org/drawingml/2006/main">
              <a:ext uri="{FF2B5EF4-FFF2-40B4-BE49-F238E27FC236}">
                <a16:creationId xmlns:a16="http://schemas.microsoft.com/office/drawing/2014/main" id="{1E4BA4B5-9FC8-4384-84F6-94D10B37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Torq Oficina  /  Grupo 04</a:t>
            </a:r>
          </a:p>
        </p:txBody>
      </p:sp>
      <p:sp>
        <p:nvSpPr>
          <p:cNvPr id="3" name="texto">
            <a:extLst xmlns:a="http://schemas.openxmlformats.org/drawingml/2006/main">
              <a:ext uri="{FF2B5EF4-FFF2-40B4-BE49-F238E27FC236}">
                <a16:creationId xmlns:a16="http://schemas.microsoft.com/office/drawing/2014/main" id="{208298FD-7B37-4F63-AEBE-9FED72FF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" name="texto">
            <a:extLst xmlns:a="http://schemas.openxmlformats.org/drawingml/2006/main">
              <a:ext uri="{FF2B5EF4-FFF2-40B4-BE49-F238E27FC236}">
                <a16:creationId xmlns:a16="http://schemas.microsoft.com/office/drawing/2014/main" id="{7656EEE7-E009-409B-8689-EF234C5E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300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6300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44 / 44</a:t>
            </a:r>
          </a:p>
        </p:txBody>
      </p:sp>
      <p:sp>
        <p:nvSpPr>
          <p:cNvPr id="5" name="texto">
            <a:extLst xmlns:a="http://schemas.openxmlformats.org/drawingml/2006/main">
              <a:ext uri="{FF2B5EF4-FFF2-40B4-BE49-F238E27FC236}">
                <a16:creationId xmlns:a16="http://schemas.microsoft.com/office/drawing/2014/main" id="{52A3EAB4-D85B-4242-9D14-682F01FA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cenários da API aprovados</a:t>
            </a:r>
          </a:p>
        </p:txBody>
      </p:sp>
      <p:sp>
        <p:nvSpPr>
          <p:cNvPr id="6" name="texto">
            <a:extLst xmlns:a="http://schemas.openxmlformats.org/drawingml/2006/main">
              <a:ext uri="{FF2B5EF4-FFF2-40B4-BE49-F238E27FC236}">
                <a16:creationId xmlns:a16="http://schemas.microsoft.com/office/drawing/2014/main" id="{56E5B67A-4227-455D-9952-BF431FA0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048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Autenticação e perfis</a:t>
            </a:r>
          </a:p>
          <a:p xmlns:a="http://schemas.openxmlformats.org/drawingml/2006/main">
            <a:pPr>
              <a:buNone/>
              <a:defRPr sz="2025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Cadastros e alterações</a:t>
            </a:r>
          </a:p>
          <a:p xmlns:a="http://schemas.openxmlformats.org/drawingml/2006/main">
            <a:pPr>
              <a:buNone/>
              <a:defRPr sz="2025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Ordens e regras de negócio</a:t>
            </a:r>
          </a:p>
          <a:p xmlns:a="http://schemas.openxmlformats.org/drawingml/2006/main">
            <a:pPr>
              <a:buNone/>
              <a:defRPr sz="2025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Estoque e concorrência</a:t>
            </a:r>
          </a:p>
        </p:txBody>
      </p:sp>
      <p:sp>
        <p:nvSpPr>
          <p:cNvPr id="7" name="texto">
            <a:extLst xmlns:a="http://schemas.openxmlformats.org/drawingml/2006/main">
              <a:ext uri="{FF2B5EF4-FFF2-40B4-BE49-F238E27FC236}">
                <a16:creationId xmlns:a16="http://schemas.microsoft.com/office/drawing/2014/main" id="{4F3DC8FA-DC7E-4015-A284-F5B2D01F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2877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Verificação pelo navegador</a:t>
            </a:r>
          </a:p>
        </p:txBody>
      </p:sp>
      <p:sp>
        <p:nvSpPr>
          <p:cNvPr id="8" name="texto">
            <a:extLst xmlns:a="http://schemas.openxmlformats.org/drawingml/2006/main">
              <a:ext uri="{FF2B5EF4-FFF2-40B4-BE49-F238E27FC236}">
                <a16:creationId xmlns:a16="http://schemas.microsoft.com/office/drawing/2014/main" id="{B9BF299A-179D-404A-A6F1-3EAB9F1D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90750"/>
            <a:ext cx="5238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26 cenários de integração.</a:t>
            </a:r>
          </a:p>
          <a:p xmlns:a="http://schemas.openxmlformats.org/drawingml/2006/main">
            <a:pPr>
              <a:buNone/>
              <a:defRPr sz="20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Telas em quatro tamanhos.</a:t>
            </a:r>
          </a:p>
        </p:txBody>
      </p:sp>
      <p:sp>
        <p:nvSpPr>
          <p:cNvPr id="9" name="texto">
            <a:extLst xmlns:a="http://schemas.openxmlformats.org/drawingml/2006/main">
              <a:ext uri="{FF2B5EF4-FFF2-40B4-BE49-F238E27FC236}">
                <a16:creationId xmlns:a16="http://schemas.microsoft.com/office/drawing/2014/main" id="{40242FDC-DAFD-47BE-B108-835401D5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64807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Integridade pelo JDBC</a:t>
            </a:r>
          </a:p>
        </p:txBody>
      </p:sp>
      <p:sp>
        <p:nvSpPr>
          <p:cNvPr id="10" name="texto">
            <a:extLst xmlns:a="http://schemas.openxmlformats.org/drawingml/2006/main">
              <a:ext uri="{FF2B5EF4-FFF2-40B4-BE49-F238E27FC236}">
                <a16:creationId xmlns:a16="http://schemas.microsoft.com/office/drawing/2014/main" id="{01E34D25-4DD3-4985-9D86-DB8A5A13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71950"/>
            <a:ext cx="5238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Saldos conciliados, sem estoque</a:t>
            </a:r>
          </a:p>
          <a:p xmlns:a="http://schemas.openxmlformats.org/drawingml/2006/main">
            <a:pPr>
              <a:buNone/>
              <a:defRPr sz="202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negativo e sem ordens duplicadas.</a:t>
            </a:r>
          </a:p>
        </p:txBody>
      </p:sp>
      <p:sp>
        <p:nvSpPr>
          <p:cNvPr id="11" name="texto">
            <a:extLst xmlns:a="http://schemas.openxmlformats.org/drawingml/2006/main">
              <a:ext uri="{FF2B5EF4-FFF2-40B4-BE49-F238E27FC236}">
                <a16:creationId xmlns:a16="http://schemas.microsoft.com/office/drawing/2014/main" id="{2684D4DA-8F26-4AA5-80A3-F5C7AFF1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Execução validada no MariaDB do XAMPP. MySQL 8 dedicado ainda requer validação.</a:t>
            </a:r>
          </a:p>
        </p:txBody>
      </p:sp>
    </p:spTree>
    <p:extLst>
      <p:ext uri="{BB962C8B-B14F-4D97-AF65-F5344CB8AC3E}">
        <p14:creationId xmlns:p14="http://schemas.microsoft.com/office/powerpoint/2010/main" val="109186248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ulo">
            <a:extLst xmlns:a="http://schemas.openxmlformats.org/drawingml/2006/main">
              <a:ext uri="{FF2B5EF4-FFF2-40B4-BE49-F238E27FC236}">
                <a16:creationId xmlns:a16="http://schemas.microsoft.com/office/drawing/2014/main" id="{6C75D861-EE5C-4237-97DD-A75C3A82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Dificuldades e soluções</a:t>
            </a:r>
          </a:p>
        </p:txBody>
      </p:sp>
      <p:sp>
        <p:nvSpPr>
          <p:cNvPr id="2" name="texto">
            <a:extLst xmlns:a="http://schemas.openxmlformats.org/drawingml/2006/main">
              <a:ext uri="{FF2B5EF4-FFF2-40B4-BE49-F238E27FC236}">
                <a16:creationId xmlns:a16="http://schemas.microsoft.com/office/drawing/2014/main" id="{8F560F35-B984-4AC4-A4CB-55C44B4E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Torq Oficina  /  Grupo 04</a:t>
            </a:r>
          </a:p>
        </p:txBody>
      </p:sp>
      <p:sp>
        <p:nvSpPr>
          <p:cNvPr id="3" name="texto">
            <a:extLst xmlns:a="http://schemas.openxmlformats.org/drawingml/2006/main">
              <a:ext uri="{FF2B5EF4-FFF2-40B4-BE49-F238E27FC236}">
                <a16:creationId xmlns:a16="http://schemas.microsoft.com/office/drawing/2014/main" id="{8A880EC2-ECE5-462C-A6F1-975602A9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" name="texto">
            <a:extLst xmlns:a="http://schemas.openxmlformats.org/drawingml/2006/main">
              <a:ext uri="{FF2B5EF4-FFF2-40B4-BE49-F238E27FC236}">
                <a16:creationId xmlns:a16="http://schemas.microsoft.com/office/drawing/2014/main" id="{8AFB364D-D96B-4256-817B-AA9B13C0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Sessão desativada</a:t>
            </a:r>
          </a:p>
        </p:txBody>
      </p:sp>
      <p:sp>
        <p:nvSpPr>
          <p:cNvPr id="5" name="texto">
            <a:extLst xmlns:a="http://schemas.openxmlformats.org/drawingml/2006/main">
              <a:ext uri="{FF2B5EF4-FFF2-40B4-BE49-F238E27FC236}">
                <a16:creationId xmlns:a16="http://schemas.microsoft.com/office/drawing/2014/main" id="{37384BD6-23C1-4CA4-A76D-FF509E50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5048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O servidor retornava 404. A correção</a:t>
            </a:r>
          </a:p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invalida a sessão e retorna 401.</a:t>
            </a:r>
          </a:p>
        </p:txBody>
      </p:sp>
      <p:sp>
        <p:nvSpPr>
          <p:cNvPr id="6" name="texto">
            <a:extLst xmlns:a="http://schemas.openxmlformats.org/drawingml/2006/main">
              <a:ext uri="{FF2B5EF4-FFF2-40B4-BE49-F238E27FC236}">
                <a16:creationId xmlns:a16="http://schemas.microsoft.com/office/drawing/2014/main" id="{09271AD3-E575-4CE3-AE0E-60D4977B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9725"/>
            <a:ext cx="5200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Concorrência no estoque</a:t>
            </a:r>
          </a:p>
        </p:txBody>
      </p:sp>
      <p:sp>
        <p:nvSpPr>
          <p:cNvPr id="7" name="texto">
            <a:extLst xmlns:a="http://schemas.openxmlformats.org/drawingml/2006/main">
              <a:ext uri="{FF2B5EF4-FFF2-40B4-BE49-F238E27FC236}">
                <a16:creationId xmlns:a16="http://schemas.microsoft.com/office/drawing/2014/main" id="{9F685E41-04B0-4437-83E4-FA9A4AE3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28825"/>
            <a:ext cx="52006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Bloqueio de linhas e transação</a:t>
            </a:r>
          </a:p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impedem dois consumos da última</a:t>
            </a:r>
          </a:p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unidade.</a:t>
            </a:r>
          </a:p>
        </p:txBody>
      </p:sp>
      <p:sp>
        <p:nvSpPr>
          <p:cNvPr id="8" name="texto">
            <a:extLst xmlns:a="http://schemas.openxmlformats.org/drawingml/2006/main">
              <a:ext uri="{FF2B5EF4-FFF2-40B4-BE49-F238E27FC236}">
                <a16:creationId xmlns:a16="http://schemas.microsoft.com/office/drawing/2014/main" id="{A354BCE6-3BB4-416C-93F7-D921EBBF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Ambiente local</a:t>
            </a:r>
          </a:p>
        </p:txBody>
      </p:sp>
      <p:sp>
        <p:nvSpPr>
          <p:cNvPr id="9" name="texto">
            <a:extLst xmlns:a="http://schemas.openxmlformats.org/drawingml/2006/main">
              <a:ext uri="{FF2B5EF4-FFF2-40B4-BE49-F238E27FC236}">
                <a16:creationId xmlns:a16="http://schemas.microsoft.com/office/drawing/2014/main" id="{7F367B73-4014-4083-9A3C-79E7A993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048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Acesso à porta do banco e pasta</a:t>
            </a:r>
          </a:p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temporária curta permitiram executar</a:t>
            </a:r>
          </a:p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o Java.</a:t>
            </a:r>
          </a:p>
        </p:txBody>
      </p:sp>
      <p:sp>
        <p:nvSpPr>
          <p:cNvPr id="10" name="texto">
            <a:extLst xmlns:a="http://schemas.openxmlformats.org/drawingml/2006/main">
              <a:ext uri="{FF2B5EF4-FFF2-40B4-BE49-F238E27FC236}">
                <a16:creationId xmlns:a16="http://schemas.microsoft.com/office/drawing/2014/main" id="{80B7B0B0-3BE3-40D4-AD0D-FB522642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43325"/>
            <a:ext cx="5200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Evidência de correção</a:t>
            </a:r>
          </a:p>
        </p:txBody>
      </p:sp>
      <p:sp>
        <p:nvSpPr>
          <p:cNvPr id="11" name="texto">
            <a:extLst xmlns:a="http://schemas.openxmlformats.org/drawingml/2006/main">
              <a:ext uri="{FF2B5EF4-FFF2-40B4-BE49-F238E27FC236}">
                <a16:creationId xmlns:a16="http://schemas.microsoft.com/office/drawing/2014/main" id="{A3DB05A6-1FAB-4297-8EA0-C1AD9C69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62425"/>
            <a:ext cx="52006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44 cenários da API aprovados.</a:t>
            </a:r>
          </a:p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26 cenários da interface.</a:t>
            </a:r>
          </a:p>
          <a:p xmlns:a="http://schemas.openxmlformats.org/drawingml/2006/main">
            <a:pPr>
              <a:buNone/>
              <a:defRPr sz="1950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Saldos conciliados pelo JDBC.</a:t>
            </a:r>
          </a:p>
        </p:txBody>
      </p:sp>
    </p:spTree>
    <p:extLst>
      <p:ext uri="{BB962C8B-B14F-4D97-AF65-F5344CB8AC3E}">
        <p14:creationId xmlns:p14="http://schemas.microsoft.com/office/powerpoint/2010/main" val="152302994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ulo">
            <a:extLst xmlns:a="http://schemas.openxmlformats.org/drawingml/2006/main">
              <a:ext uri="{FF2B5EF4-FFF2-40B4-BE49-F238E27FC236}">
                <a16:creationId xmlns:a16="http://schemas.microsoft.com/office/drawing/2014/main" id="{900F03F4-3183-40EA-B560-B9DA9AEB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Demonstração prática</a:t>
            </a:r>
          </a:p>
        </p:txBody>
      </p:sp>
      <p:sp>
        <p:nvSpPr>
          <p:cNvPr id="2" name="texto">
            <a:extLst xmlns:a="http://schemas.openxmlformats.org/drawingml/2006/main">
              <a:ext uri="{FF2B5EF4-FFF2-40B4-BE49-F238E27FC236}">
                <a16:creationId xmlns:a16="http://schemas.microsoft.com/office/drawing/2014/main" id="{7F190C3F-C935-4A73-8D5D-417464AD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Torq Oficina  /  Grupo 04</a:t>
            </a:r>
          </a:p>
        </p:txBody>
      </p:sp>
      <p:sp>
        <p:nvSpPr>
          <p:cNvPr id="3" name="texto">
            <a:extLst xmlns:a="http://schemas.openxmlformats.org/drawingml/2006/main">
              <a:ext uri="{FF2B5EF4-FFF2-40B4-BE49-F238E27FC236}">
                <a16:creationId xmlns:a16="http://schemas.microsoft.com/office/drawing/2014/main" id="{996BEF39-A853-4337-B7B8-D90C4435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" name="texto">
            <a:extLst xmlns:a="http://schemas.openxmlformats.org/drawingml/2006/main">
              <a:ext uri="{FF2B5EF4-FFF2-40B4-BE49-F238E27FC236}">
                <a16:creationId xmlns:a16="http://schemas.microsoft.com/office/drawing/2014/main" id="{669B1FBD-F972-43E6-88F1-841CB725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619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texto">
            <a:extLst xmlns:a="http://schemas.openxmlformats.org/drawingml/2006/main">
              <a:ext uri="{FF2B5EF4-FFF2-40B4-BE49-F238E27FC236}">
                <a16:creationId xmlns:a16="http://schemas.microsoft.com/office/drawing/2014/main" id="{1B4DE892-9CD7-45D6-ADE7-CDF9C2E0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495425"/>
            <a:ext cx="1014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Entrar, cadastrar cliente e veículo</a:t>
            </a:r>
          </a:p>
        </p:txBody>
      </p:sp>
      <p:sp>
        <p:nvSpPr>
          <p:cNvPr id="6" name="texto">
            <a:extLst xmlns:a="http://schemas.openxmlformats.org/drawingml/2006/main">
              <a:ext uri="{FF2B5EF4-FFF2-40B4-BE49-F238E27FC236}">
                <a16:creationId xmlns:a16="http://schemas.microsoft.com/office/drawing/2014/main" id="{A516B5D9-6796-4968-817B-DE7833C7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619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texto">
            <a:extLst xmlns:a="http://schemas.openxmlformats.org/drawingml/2006/main">
              <a:ext uri="{FF2B5EF4-FFF2-40B4-BE49-F238E27FC236}">
                <a16:creationId xmlns:a16="http://schemas.microsoft.com/office/drawing/2014/main" id="{FB77401F-CB90-471C-88ED-D81201FA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76475"/>
            <a:ext cx="1014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Abrir ordem e iniciar execução</a:t>
            </a:r>
          </a:p>
        </p:txBody>
      </p:sp>
      <p:sp>
        <p:nvSpPr>
          <p:cNvPr id="8" name="texto">
            <a:extLst xmlns:a="http://schemas.openxmlformats.org/drawingml/2006/main">
              <a:ext uri="{FF2B5EF4-FFF2-40B4-BE49-F238E27FC236}">
                <a16:creationId xmlns:a16="http://schemas.microsoft.com/office/drawing/2014/main" id="{DCBF76EA-08AD-4FF2-BCFD-68678C04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619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texto">
            <a:extLst xmlns:a="http://schemas.openxmlformats.org/drawingml/2006/main">
              <a:ext uri="{FF2B5EF4-FFF2-40B4-BE49-F238E27FC236}">
                <a16:creationId xmlns:a16="http://schemas.microsoft.com/office/drawing/2014/main" id="{6A016784-805E-4155-8C3A-3C663A30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57525"/>
            <a:ext cx="1014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Registrar serviço e peças, conferir o total</a:t>
            </a:r>
          </a:p>
        </p:txBody>
      </p:sp>
      <p:sp>
        <p:nvSpPr>
          <p:cNvPr id="10" name="texto">
            <a:extLst xmlns:a="http://schemas.openxmlformats.org/drawingml/2006/main">
              <a:ext uri="{FF2B5EF4-FFF2-40B4-BE49-F238E27FC236}">
                <a16:creationId xmlns:a16="http://schemas.microsoft.com/office/drawing/2014/main" id="{48D3D550-9725-4CD8-AF11-D8F49568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619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texto">
            <a:extLst xmlns:a="http://schemas.openxmlformats.org/drawingml/2006/main">
              <a:ext uri="{FF2B5EF4-FFF2-40B4-BE49-F238E27FC236}">
                <a16:creationId xmlns:a16="http://schemas.microsoft.com/office/drawing/2014/main" id="{528E09D3-5669-4DA2-8D15-0BAC2590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38575"/>
            <a:ext cx="1014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Testar saldo insuficiente e consultar movimentos</a:t>
            </a:r>
          </a:p>
        </p:txBody>
      </p:sp>
      <p:sp>
        <p:nvSpPr>
          <p:cNvPr id="12" name="texto">
            <a:extLst xmlns:a="http://schemas.openxmlformats.org/drawingml/2006/main">
              <a:ext uri="{FF2B5EF4-FFF2-40B4-BE49-F238E27FC236}">
                <a16:creationId xmlns:a16="http://schemas.microsoft.com/office/drawing/2014/main" id="{C405B61A-F1E4-4F11-8B75-2BC8B221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619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E766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7663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texto">
            <a:extLst xmlns:a="http://schemas.openxmlformats.org/drawingml/2006/main">
              <a:ext uri="{FF2B5EF4-FFF2-40B4-BE49-F238E27FC236}">
                <a16:creationId xmlns:a16="http://schemas.microsoft.com/office/drawing/2014/main" id="{40272AC3-44CC-4F25-9217-4EBA6521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19625"/>
            <a:ext cx="1014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030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02E"/>
                </a:solidFill>
                <a:latin typeface="Arial"/>
                <a:ea typeface="Arial"/>
                <a:cs typeface="Arial"/>
              </a:rPr>
              <a:t>Concluir, entregar e consultar o histórico</a:t>
            </a:r>
          </a:p>
        </p:txBody>
      </p:sp>
      <p:sp>
        <p:nvSpPr>
          <p:cNvPr id="14" name="texto">
            <a:extLst xmlns:a="http://schemas.openxmlformats.org/drawingml/2006/main">
              <a:ext uri="{FF2B5EF4-FFF2-40B4-BE49-F238E27FC236}">
                <a16:creationId xmlns:a16="http://schemas.microsoft.com/office/drawing/2014/main" id="{09279A65-2D89-45BD-A419-BD12EBE6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Exemplo: R$ 90,00 de serviço + R$ 206,60 de peças = R$ 296,60.</a:t>
            </a:r>
          </a:p>
        </p:txBody>
      </p:sp>
    </p:spTree>
    <p:extLst>
      <p:ext uri="{BB962C8B-B14F-4D97-AF65-F5344CB8AC3E}">
        <p14:creationId xmlns:p14="http://schemas.microsoft.com/office/powerpoint/2010/main" val="65331058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ulo">
            <a:extLst xmlns:a="http://schemas.openxmlformats.org/drawingml/2006/main">
              <a:ext uri="{FF2B5EF4-FFF2-40B4-BE49-F238E27FC236}">
                <a16:creationId xmlns:a16="http://schemas.microsoft.com/office/drawing/2014/main" id="{C90F2B72-0390-4BAC-BB1F-7A68728F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2C2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C28"/>
                </a:solidFill>
                <a:latin typeface="Arial"/>
                <a:ea typeface="Arial"/>
                <a:cs typeface="Arial"/>
              </a:rPr>
              <a:t>Participação dos integrantes</a:t>
            </a:r>
          </a:p>
        </p:txBody>
      </p:sp>
      <p:sp>
        <p:nvSpPr>
          <p:cNvPr id="2" name="texto">
            <a:extLst xmlns:a="http://schemas.openxmlformats.org/drawingml/2006/main">
              <a:ext uri="{FF2B5EF4-FFF2-40B4-BE49-F238E27FC236}">
                <a16:creationId xmlns:a16="http://schemas.microsoft.com/office/drawing/2014/main" id="{F841830D-1DED-4FB3-A887-DF8767E2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Torq Oficina  /  Grupo 04</a:t>
            </a:r>
          </a:p>
        </p:txBody>
      </p:sp>
      <p:sp>
        <p:nvSpPr>
          <p:cNvPr id="3" name="texto">
            <a:extLst xmlns:a="http://schemas.openxmlformats.org/drawingml/2006/main">
              <a:ext uri="{FF2B5EF4-FFF2-40B4-BE49-F238E27FC236}">
                <a16:creationId xmlns:a16="http://schemas.microsoft.com/office/drawing/2014/main" id="{4646AE90-ECBC-44F1-826E-7086303E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67FA3-482F-4992-AB03-7643AAB7FE96}"/>
              </a:ext>
            </a:extLst>
          </p:cNvPr>
          <p:cNvGraphicFramePr/>
          <p:nvPr/>
        </p:nvGraphicFramePr>
        <p:xfrm>
          <a:off xmlns:a="http://schemas.openxmlformats.org/drawingml/2006/main" x="609600" y="1514475"/>
          <a:ext xmlns:a="http://schemas.openxmlformats.org/drawingml/2006/main" cx="109728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5781675"/>
              </a:tblGrid>
              <a:tr h="673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Integrante</a:t>
                      </a:r>
                    </a:p>
                  </a:txBody>
                  <a:tcPr marL="123825" marR="123825" marT="85725" marB="85725" anchor="ctr">
                    <a:solidFill>
                      <a:srgbClr val="182C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Fala sugerida</a:t>
                      </a:r>
                    </a:p>
                  </a:txBody>
                  <a:tcPr marL="123825" marR="123825" marT="85725" marB="85725" anchor="ctr">
                    <a:solidFill>
                      <a:srgbClr val="182C28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Fernando Ian Harmel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Cliente, problema e proposta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Arthur Ayyub Rodrigues</a:t>
                      </a:r>
                    </a:p>
                  </a:txBody>
                  <a:tcPr marL="123825" marR="123825" marT="85725" marB="85725" anchor="ctr"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Requisitos, stack e banco</a:t>
                      </a:r>
                    </a:p>
                  </a:txBody>
                  <a:tcPr marL="123825" marR="123825" marT="85725" marB="85725" anchor="ctr">
                    <a:solidFill>
                      <a:srgbClr val="F5F6F2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Victor Nestor Prim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Acesso, painel e cadastros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Arthur Krebs Delvons</a:t>
                      </a:r>
                    </a:p>
                  </a:txBody>
                  <a:tcPr marL="123825" marR="123825" marT="85725" marB="85725" anchor="ctr"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Ordem, peças e estoque</a:t>
                      </a:r>
                    </a:p>
                  </a:txBody>
                  <a:tcPr marL="123825" marR="123825" marT="85725" marB="85725" anchor="ctr">
                    <a:solidFill>
                      <a:srgbClr val="F5F6F2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Larissa Beatriz Luz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02E"/>
                          </a:solidFill>
                          <a:latin typeface="Arial"/>
                          <a:ea typeface="Arial"/>
                          <a:cs typeface="Arial"/>
                        </a:rPr>
                        <a:t>Histórico, testes e encerramento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o">
            <a:extLst xmlns:a="http://schemas.openxmlformats.org/drawingml/2006/main">
              <a:ext uri="{FF2B5EF4-FFF2-40B4-BE49-F238E27FC236}">
                <a16:creationId xmlns:a16="http://schemas.microsoft.com/office/drawing/2014/main" id="{F2EB818F-27BF-4088-8DE1-171155E0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7380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3807B"/>
                </a:solidFill>
                <a:latin typeface="Arial"/>
                <a:ea typeface="Arial"/>
                <a:cs typeface="Arial"/>
              </a:rPr>
              <a:t>Todos devem explicar o fluxo completo e executar a demonstração.</a:t>
            </a:r>
          </a:p>
        </p:txBody>
      </p:sp>
    </p:spTree>
    <p:extLst>
      <p:ext uri="{BB962C8B-B14F-4D97-AF65-F5344CB8AC3E}">
        <p14:creationId xmlns:p14="http://schemas.microsoft.com/office/powerpoint/2010/main" val="10459372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2026-10-09T13:09:36.5210000Z</dcterms:created>
  <dcterms:modified xsi:type="dcterms:W3CDTF">2026-10-09T13:09:36.5210000Z</dcterms:modified>
</coreProperties>
</file>